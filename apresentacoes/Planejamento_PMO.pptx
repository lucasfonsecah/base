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Mensagem central: o Willyan assume o processo, o tratamento dos dados e a construção das visões. A operação recebe a leitura pronta e decide. Hora a Hora: acompanhamento intradiário contra a meta do dia — dá para ver onde o ritmo cai, em qual carteira, e reagir no mesmo turno. Já concluído na N4; N5 em desenvolvimento. Dashboard D-1: dia anterior fechado com N4 e N5 na mesma régua. São 27 métricas mapeadas nos três dashboards, 8 já concluídas. Metas e comparativos: com a meta dentro do relatório, ganhamos visão mês a mês e atingimento contra o mês corrente. Por trás das visões, o Will atua no desenvolvimento dos processos, na automação de relatórios e rotinas, na identificação de oportunidades e nos estudos que levam análise para as reuniões.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PMO dos dashboards: 27 métricas mapeadas entre N5 Onboarding, N5 Pró-Ativos e N4, divididas em quantitativo, tempos e análises percentuais. O N4 está mais maduro, com 6 de 9 métricas concluídas e periodicidade diária D-1 já definida. O N5 Pró-Ativos tem 2 de 9 e o N5 Onboarding ainda não tem métrica concluída. Os tempos (logado e pausas) vêm do Pmóvel e estão com o Willyan nas três carteiras, com prazo em 05/10. O P.A depende do cliente nas três carteiras. Os prazos restantes se concentram em 08 e 10/10.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PMO dos processos recorrentes: quatro rotinas replicadas nas três carteiras, todas com origem nos KPI's Meli. A N4 (Lucas) já está concluída nas três rotinas diárias: desenvolvimento do HXH, envio do HXH e análise de dados. Nas carteiras N5, o desenvolvimento e o envio do HXH estão em andamento com Deyvid (Pró-Ativos) e Andressa (Onboarding). O ponto crítico é o acesso externo: o preenchimento para a apresentação semanal (focal Juliana, N5 às quartas e N4 às terças) e a análise de dados e insights das duas carteiras N5 estão parados aguardando o acesso aos KPI's Meli.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PMO das reuniões de alinhamento. Seis frentes acordadas. A apresentação de resultados é semanal, às quintas, e está pendente de acesso externo. O dimensionamento (demanda entrante mais backlog) tem os dados avaliados nesta semana para começar a movimentar na próxima, com prazo em 13/10. Os dois dashboards com dados manuais (Pró-Ativos e Onboarding) exigem aprofundamento do Will na carteira: no Pró-Ativos, analisar as planilhas do Deyvid e desenhar o processo de acompanhamento; no Onboarding, mapear com a Andressa e desenhar o fluxo com operações para controlar o preenchimento pelos agentes. Ambos em 13/10. A demanda de catálogo envolve extrair a base do CRM, separar por vendor e definir a prioridade de tratativa. Por fim, a análise de KPIs deve ser feita por frente de atuação e não de forma consolidada, com foco no aging de 5 dias sem atuação: a visão por frentes ainda precisa ser desenvolvida e o acompanhamento de aging já está construído, aguardando acesso externo para validar os dados.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PMO das evoluções do dashboard pedidas no alinhamento: de dez pontos, sete estão entregues — volumetria de casos fechados por hora na evolução dia a dia, volumetria e percentual por célula, todos os status dos tickets além do fechado, visão online de N4 com acesso do Plan no CXOne, abertura por semana e ano, visão de tabulação dos casos tratados e abertura de TMA e recebimento por categoria. Dois estão validados em conceito e entram na implementação: produtividade apenas de quem trabalhou na fila e filtro de operador já logado. Um segue em andamento: o acesso para migração entre filas, que depende de liberação.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image" Target="../media/image-1-6.png"/><Relationship Id="rId7" Type="http://schemas.openxmlformats.org/officeDocument/2006/relationships/image" Target="../media/image-1-7.png"/><Relationship Id="rId8" Type="http://schemas.openxmlformats.org/officeDocument/2006/relationships/image" Target="../media/image-1-8.png"/><Relationship Id="rId9" Type="http://schemas.openxmlformats.org/officeDocument/2006/relationships/image" Target="../media/image-1-9.pn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image" Target="../media/image-4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image" Target="../media/image-5-7.png"/><Relationship Id="rId8" Type="http://schemas.openxmlformats.org/officeDocument/2006/relationships/image" Target="../media/image-5-8.png"/><Relationship Id="rId9" Type="http://schemas.openxmlformats.org/officeDocument/2006/relationships/image" Target="../media/image-5-9.png"/><Relationship Id="rId10" Type="http://schemas.openxmlformats.org/officeDocument/2006/relationships/image" Target="../media/image-5-10.png"/><Relationship Id="rId11" Type="http://schemas.openxmlformats.org/officeDocument/2006/relationships/image" Target="../media/image-5-11.png"/><Relationship Id="rId12" Type="http://schemas.openxmlformats.org/officeDocument/2006/relationships/slideLayout" Target="../slideLayouts/slideLayout1.xml"/><Relationship Id="rId13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20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66928" y="4572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spc="28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PLANEJAMENTO   ·   WILLYAN</a:t>
            </a:r>
            <a:endParaRPr lang="en-US" sz="1150" dirty="0"/>
          </a:p>
        </p:txBody>
      </p:sp>
      <p:sp>
        <p:nvSpPr>
          <p:cNvPr id="4" name="Shape 1"/>
          <p:cNvSpPr/>
          <p:nvPr/>
        </p:nvSpPr>
        <p:spPr>
          <a:xfrm>
            <a:off x="8924544" y="365760"/>
            <a:ext cx="2697480" cy="420624"/>
          </a:xfrm>
          <a:prstGeom prst="roundRect">
            <a:avLst>
              <a:gd name="adj" fmla="val 50000"/>
            </a:avLst>
          </a:prstGeom>
          <a:solidFill>
            <a:srgbClr val="E9A13B">
              <a:alpha val="14000"/>
            </a:srgbClr>
          </a:solidFill>
          <a:ln w="12700">
            <a:solidFill>
              <a:srgbClr val="E9A13B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9107424" y="466344"/>
            <a:ext cx="219456" cy="219456"/>
          </a:xfrm>
          <a:prstGeom prst="ellipse">
            <a:avLst/>
          </a:prstGeom>
          <a:solidFill>
            <a:srgbClr val="E9A13B"/>
          </a:solidFill>
          <a:ln/>
        </p:spPr>
      </p:sp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62288" y="521208"/>
            <a:ext cx="109728" cy="109728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400032" y="365760"/>
            <a:ext cx="2057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ACESSOS LIBERADOS</a:t>
            </a:r>
            <a:endParaRPr lang="en-US" sz="950" dirty="0"/>
          </a:p>
        </p:txBody>
      </p:sp>
      <p:sp>
        <p:nvSpPr>
          <p:cNvPr id="8" name="Text 4"/>
          <p:cNvSpPr txBox="1"/>
          <p:nvPr/>
        </p:nvSpPr>
        <p:spPr>
          <a:xfrm>
            <a:off x="566928" y="777240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dado deixa de ser relatório </a:t>
            </a:r>
            <a:pPr indent="0" marL="0">
              <a:buNone/>
            </a:pPr>
            <a:r>
              <a:rPr lang="en-US" sz="2900" b="1" dirty="0">
                <a:solidFill>
                  <a:srgbClr val="E9A1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 vira decisão</a:t>
            </a:r>
            <a:endParaRPr lang="en-US" sz="2900" dirty="0"/>
          </a:p>
        </p:txBody>
      </p:sp>
      <p:sp>
        <p:nvSpPr>
          <p:cNvPr id="9" name="Text 5"/>
          <p:cNvSpPr txBox="1"/>
          <p:nvPr/>
        </p:nvSpPr>
        <p:spPr>
          <a:xfrm>
            <a:off x="566928" y="137160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D8E4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Willyan assume o processo, o tratamento dos dados e a construção das visões — agora com a meta dentro do relatório.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566928" y="1828800"/>
            <a:ext cx="3502152" cy="2340864"/>
          </a:xfrm>
          <a:prstGeom prst="roundRect">
            <a:avLst>
              <a:gd name="adj" fmla="val 4688"/>
            </a:avLst>
          </a:prstGeom>
          <a:solidFill>
            <a:srgbClr val="FFFFFF">
              <a:alpha val="9000"/>
            </a:srgbClr>
          </a:solidFill>
          <a:ln w="12700">
            <a:solidFill>
              <a:srgbClr val="31507F"/>
            </a:solidFill>
            <a:prstDash val="solid"/>
          </a:ln>
          <a:effectLst>
            <a:outerShdw sx="100000" sy="100000" kx="0" ky="0" algn="bl" rotWithShape="0" blurRad="177800" dist="38100" dir="5400000">
              <a:srgbClr val="030913">
                <a:alpha val="35000"/>
              </a:srgbClr>
            </a:outerShdw>
          </a:effectLst>
        </p:spPr>
      </p:sp>
      <p:sp>
        <p:nvSpPr>
          <p:cNvPr id="11" name="Text 7"/>
          <p:cNvSpPr txBox="1"/>
          <p:nvPr/>
        </p:nvSpPr>
        <p:spPr>
          <a:xfrm>
            <a:off x="877824" y="2066544"/>
            <a:ext cx="2880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HORA A HORA</a:t>
            </a:r>
            <a:endParaRPr lang="en-US" sz="950" dirty="0"/>
          </a:p>
        </p:txBody>
      </p:sp>
      <p:sp>
        <p:nvSpPr>
          <p:cNvPr id="12" name="Shape 8"/>
          <p:cNvSpPr/>
          <p:nvPr/>
        </p:nvSpPr>
        <p:spPr>
          <a:xfrm>
            <a:off x="877824" y="2340864"/>
            <a:ext cx="658368" cy="658368"/>
          </a:xfrm>
          <a:prstGeom prst="ellipse">
            <a:avLst/>
          </a:prstGeom>
          <a:solidFill>
            <a:srgbClr val="E9A13B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0704" y="2523744"/>
            <a:ext cx="292608" cy="292608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664208" y="2340864"/>
            <a:ext cx="211226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Tempo real</a:t>
            </a:r>
            <a:endParaRPr lang="en-US" sz="2000" dirty="0"/>
          </a:p>
        </p:txBody>
      </p:sp>
      <p:sp>
        <p:nvSpPr>
          <p:cNvPr id="15" name="Text 10"/>
          <p:cNvSpPr txBox="1"/>
          <p:nvPr/>
        </p:nvSpPr>
        <p:spPr>
          <a:xfrm>
            <a:off x="877824" y="3090672"/>
            <a:ext cx="2880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D8E4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Acompanhamento contra a meta do dia: aponta onde o ritmo cai e em qual carteira, a tempo de reagir.</a:t>
            </a:r>
            <a:endParaRPr lang="en-US" sz="1050" dirty="0"/>
          </a:p>
        </p:txBody>
      </p:sp>
      <p:sp>
        <p:nvSpPr>
          <p:cNvPr id="16" name="Text 11"/>
          <p:cNvSpPr txBox="1"/>
          <p:nvPr/>
        </p:nvSpPr>
        <p:spPr>
          <a:xfrm>
            <a:off x="877824" y="3785616"/>
            <a:ext cx="2880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93A9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N4 concluído  ·  N5 em desenvolvimento</a:t>
            </a:r>
            <a:endParaRPr lang="en-US" sz="900" dirty="0"/>
          </a:p>
        </p:txBody>
      </p:sp>
      <p:sp>
        <p:nvSpPr>
          <p:cNvPr id="17" name="Shape 12"/>
          <p:cNvSpPr/>
          <p:nvPr/>
        </p:nvSpPr>
        <p:spPr>
          <a:xfrm>
            <a:off x="4343400" y="1828800"/>
            <a:ext cx="3502152" cy="2340864"/>
          </a:xfrm>
          <a:prstGeom prst="roundRect">
            <a:avLst>
              <a:gd name="adj" fmla="val 4688"/>
            </a:avLst>
          </a:prstGeom>
          <a:solidFill>
            <a:srgbClr val="FFFFFF">
              <a:alpha val="9000"/>
            </a:srgbClr>
          </a:solidFill>
          <a:ln w="12700">
            <a:solidFill>
              <a:srgbClr val="31507F"/>
            </a:solidFill>
            <a:prstDash val="solid"/>
          </a:ln>
          <a:effectLst>
            <a:outerShdw sx="100000" sy="100000" kx="0" ky="0" algn="bl" rotWithShape="0" blurRad="177800" dist="38100" dir="5400000">
              <a:srgbClr val="030913">
                <a:alpha val="35000"/>
              </a:srgbClr>
            </a:outerShdw>
          </a:effectLst>
        </p:spPr>
      </p:sp>
      <p:sp>
        <p:nvSpPr>
          <p:cNvPr id="18" name="Text 13"/>
          <p:cNvSpPr txBox="1"/>
          <p:nvPr/>
        </p:nvSpPr>
        <p:spPr>
          <a:xfrm>
            <a:off x="4654296" y="2066544"/>
            <a:ext cx="2880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D-1</a:t>
            </a:r>
            <a:endParaRPr lang="en-US" sz="950" dirty="0"/>
          </a:p>
        </p:txBody>
      </p:sp>
      <p:sp>
        <p:nvSpPr>
          <p:cNvPr id="19" name="Shape 14"/>
          <p:cNvSpPr/>
          <p:nvPr/>
        </p:nvSpPr>
        <p:spPr>
          <a:xfrm>
            <a:off x="4654296" y="2340864"/>
            <a:ext cx="658368" cy="658368"/>
          </a:xfrm>
          <a:prstGeom prst="ellipse">
            <a:avLst/>
          </a:prstGeom>
          <a:solidFill>
            <a:srgbClr val="E9A13B"/>
          </a:solidFill>
          <a:ln/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37176" y="2523744"/>
            <a:ext cx="292608" cy="292608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5440680" y="2340864"/>
            <a:ext cx="211226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Um só número</a:t>
            </a:r>
            <a:endParaRPr lang="en-US" sz="2000" dirty="0"/>
          </a:p>
        </p:txBody>
      </p:sp>
      <p:sp>
        <p:nvSpPr>
          <p:cNvPr id="22" name="Text 16"/>
          <p:cNvSpPr txBox="1"/>
          <p:nvPr/>
        </p:nvSpPr>
        <p:spPr>
          <a:xfrm>
            <a:off x="4654296" y="3090672"/>
            <a:ext cx="2880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D8E4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 anterior fechado com N4 e N5 na mesma régua: comparação direta entre carteiras, sem planilha paralela.</a:t>
            </a:r>
            <a:endParaRPr lang="en-US" sz="1050" dirty="0"/>
          </a:p>
        </p:txBody>
      </p:sp>
      <p:sp>
        <p:nvSpPr>
          <p:cNvPr id="23" name="Text 17"/>
          <p:cNvSpPr txBox="1"/>
          <p:nvPr/>
        </p:nvSpPr>
        <p:spPr>
          <a:xfrm>
            <a:off x="4654296" y="3785616"/>
            <a:ext cx="2880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93A9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 métricas mapeadas  ·  8 concluídas</a:t>
            </a:r>
            <a:endParaRPr lang="en-US" sz="900" dirty="0"/>
          </a:p>
        </p:txBody>
      </p:sp>
      <p:sp>
        <p:nvSpPr>
          <p:cNvPr id="24" name="Shape 18"/>
          <p:cNvSpPr/>
          <p:nvPr/>
        </p:nvSpPr>
        <p:spPr>
          <a:xfrm>
            <a:off x="8119872" y="1828800"/>
            <a:ext cx="3502152" cy="2340864"/>
          </a:xfrm>
          <a:prstGeom prst="roundRect">
            <a:avLst>
              <a:gd name="adj" fmla="val 4688"/>
            </a:avLst>
          </a:prstGeom>
          <a:solidFill>
            <a:srgbClr val="FFFFFF">
              <a:alpha val="9000"/>
            </a:srgbClr>
          </a:solidFill>
          <a:ln w="12700">
            <a:solidFill>
              <a:srgbClr val="31507F"/>
            </a:solidFill>
            <a:prstDash val="solid"/>
          </a:ln>
          <a:effectLst>
            <a:outerShdw sx="100000" sy="100000" kx="0" ky="0" algn="bl" rotWithShape="0" blurRad="177800" dist="38100" dir="5400000">
              <a:srgbClr val="030913">
                <a:alpha val="35000"/>
              </a:srgbClr>
            </a:outerShdw>
          </a:effectLst>
        </p:spPr>
      </p:sp>
      <p:sp>
        <p:nvSpPr>
          <p:cNvPr id="25" name="Text 19"/>
          <p:cNvSpPr txBox="1"/>
          <p:nvPr/>
        </p:nvSpPr>
        <p:spPr>
          <a:xfrm>
            <a:off x="8430768" y="2066544"/>
            <a:ext cx="2880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METAS E COMPARATIVOS</a:t>
            </a:r>
            <a:endParaRPr lang="en-US" sz="950" dirty="0"/>
          </a:p>
        </p:txBody>
      </p:sp>
      <p:sp>
        <p:nvSpPr>
          <p:cNvPr id="26" name="Shape 20"/>
          <p:cNvSpPr/>
          <p:nvPr/>
        </p:nvSpPr>
        <p:spPr>
          <a:xfrm>
            <a:off x="8430768" y="2340864"/>
            <a:ext cx="658368" cy="658368"/>
          </a:xfrm>
          <a:prstGeom prst="ellipse">
            <a:avLst/>
          </a:prstGeom>
          <a:solidFill>
            <a:srgbClr val="E9A13B"/>
          </a:solidFill>
          <a:ln/>
        </p:spPr>
      </p:sp>
      <p:pic>
        <p:nvPicPr>
          <p:cNvPr id="2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13648" y="2523744"/>
            <a:ext cx="292608" cy="292608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9217152" y="2340864"/>
            <a:ext cx="211226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Atingimento</a:t>
            </a:r>
            <a:endParaRPr lang="en-US" sz="2000" dirty="0"/>
          </a:p>
        </p:txBody>
      </p:sp>
      <p:sp>
        <p:nvSpPr>
          <p:cNvPr id="29" name="Text 22"/>
          <p:cNvSpPr txBox="1"/>
          <p:nvPr/>
        </p:nvSpPr>
        <p:spPr>
          <a:xfrm>
            <a:off x="8430768" y="3090672"/>
            <a:ext cx="2880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D8E4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Mês a mês e contra o mês corrente: mostra a tendência e a distância da meta, não só a foto do dia.</a:t>
            </a:r>
            <a:endParaRPr lang="en-US" sz="1050" dirty="0"/>
          </a:p>
        </p:txBody>
      </p:sp>
      <p:sp>
        <p:nvSpPr>
          <p:cNvPr id="30" name="Text 23"/>
          <p:cNvSpPr txBox="1"/>
          <p:nvPr/>
        </p:nvSpPr>
        <p:spPr>
          <a:xfrm>
            <a:off x="8430768" y="3785616"/>
            <a:ext cx="2880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93A9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Aplicado ao Hora a Hora e ao D-1</a:t>
            </a:r>
            <a:endParaRPr lang="en-US" sz="900" dirty="0"/>
          </a:p>
        </p:txBody>
      </p:sp>
      <p:sp>
        <p:nvSpPr>
          <p:cNvPr id="31" name="Shape 24"/>
          <p:cNvSpPr/>
          <p:nvPr/>
        </p:nvSpPr>
        <p:spPr>
          <a:xfrm>
            <a:off x="566928" y="4370832"/>
            <a:ext cx="11055096" cy="1993392"/>
          </a:xfrm>
          <a:prstGeom prst="roundRect">
            <a:avLst>
              <a:gd name="adj" fmla="val 5505"/>
            </a:avLst>
          </a:prstGeom>
          <a:solidFill>
            <a:srgbClr val="E9A13B">
              <a:alpha val="12000"/>
            </a:srgbClr>
          </a:solidFill>
          <a:ln w="22225">
            <a:solidFill>
              <a:srgbClr val="E9A13B"/>
            </a:solidFill>
            <a:prstDash val="solid"/>
          </a:ln>
          <a:effectLst>
            <a:outerShdw sx="100000" sy="100000" kx="0" ky="0" algn="bl" rotWithShape="0" blurRad="228600" dist="50800" dir="5400000">
              <a:srgbClr val="030913">
                <a:alpha val="40000"/>
              </a:srgbClr>
            </a:outerShdw>
          </a:effectLst>
        </p:spPr>
      </p:sp>
      <p:sp>
        <p:nvSpPr>
          <p:cNvPr id="32" name="Text 25"/>
          <p:cNvSpPr txBox="1"/>
          <p:nvPr/>
        </p:nvSpPr>
        <p:spPr>
          <a:xfrm>
            <a:off x="950976" y="4608576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spc="22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O WILL ENTREGA POR TRÁS DAS VISÕES</a:t>
            </a:r>
            <a:endParaRPr lang="en-US" sz="1150" dirty="0"/>
          </a:p>
        </p:txBody>
      </p:sp>
      <p:sp>
        <p:nvSpPr>
          <p:cNvPr id="33" name="Shape 26"/>
          <p:cNvSpPr/>
          <p:nvPr/>
        </p:nvSpPr>
        <p:spPr>
          <a:xfrm>
            <a:off x="950976" y="5047488"/>
            <a:ext cx="420624" cy="420624"/>
          </a:xfrm>
          <a:prstGeom prst="ellipse">
            <a:avLst/>
          </a:prstGeom>
          <a:solidFill>
            <a:srgbClr val="E9A13B"/>
          </a:solidFill>
          <a:ln/>
        </p:spPr>
      </p:sp>
      <p:pic>
        <p:nvPicPr>
          <p:cNvPr id="34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65276" y="5161788"/>
            <a:ext cx="192024" cy="192024"/>
          </a:xfrm>
          <a:prstGeom prst="rect">
            <a:avLst/>
          </a:prstGeom>
        </p:spPr>
      </p:pic>
      <p:sp>
        <p:nvSpPr>
          <p:cNvPr id="35" name="Text 27"/>
          <p:cNvSpPr txBox="1"/>
          <p:nvPr/>
        </p:nvSpPr>
        <p:spPr>
          <a:xfrm>
            <a:off x="950976" y="5577840"/>
            <a:ext cx="239344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Desenvolvimento</a:t>
            </a:r>
            <a:endParaRPr lang="en-US" sz="1300" dirty="0"/>
          </a:p>
        </p:txBody>
      </p:sp>
      <p:sp>
        <p:nvSpPr>
          <p:cNvPr id="36" name="Text 28"/>
          <p:cNvSpPr txBox="1"/>
          <p:nvPr/>
        </p:nvSpPr>
        <p:spPr>
          <a:xfrm>
            <a:off x="950976" y="5870448"/>
            <a:ext cx="239344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D8E4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Constrói e evolui as visões junto com a operação</a:t>
            </a:r>
            <a:endParaRPr lang="en-US" sz="1050" dirty="0"/>
          </a:p>
        </p:txBody>
      </p:sp>
      <p:sp>
        <p:nvSpPr>
          <p:cNvPr id="37" name="Shape 29"/>
          <p:cNvSpPr/>
          <p:nvPr/>
        </p:nvSpPr>
        <p:spPr>
          <a:xfrm>
            <a:off x="3582162" y="5047488"/>
            <a:ext cx="420624" cy="420624"/>
          </a:xfrm>
          <a:prstGeom prst="ellipse">
            <a:avLst/>
          </a:prstGeom>
          <a:solidFill>
            <a:srgbClr val="E9A13B"/>
          </a:solidFill>
          <a:ln/>
        </p:spPr>
      </p:sp>
      <p:pic>
        <p:nvPicPr>
          <p:cNvPr id="38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696462" y="5161788"/>
            <a:ext cx="192024" cy="192024"/>
          </a:xfrm>
          <a:prstGeom prst="rect">
            <a:avLst/>
          </a:prstGeom>
        </p:spPr>
      </p:pic>
      <p:sp>
        <p:nvSpPr>
          <p:cNvPr id="39" name="Text 30"/>
          <p:cNvSpPr txBox="1"/>
          <p:nvPr/>
        </p:nvSpPr>
        <p:spPr>
          <a:xfrm>
            <a:off x="3582162" y="5577840"/>
            <a:ext cx="239344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Automação</a:t>
            </a:r>
            <a:endParaRPr lang="en-US" sz="1300" dirty="0"/>
          </a:p>
        </p:txBody>
      </p:sp>
      <p:sp>
        <p:nvSpPr>
          <p:cNvPr id="40" name="Text 31"/>
          <p:cNvSpPr txBox="1"/>
          <p:nvPr/>
        </p:nvSpPr>
        <p:spPr>
          <a:xfrm>
            <a:off x="3582162" y="5870448"/>
            <a:ext cx="239344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D8E4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Elimina o trabalho manual de relatórios e rotinas</a:t>
            </a:r>
            <a:endParaRPr lang="en-US" sz="1050" dirty="0"/>
          </a:p>
        </p:txBody>
      </p:sp>
      <p:sp>
        <p:nvSpPr>
          <p:cNvPr id="41" name="Shape 32"/>
          <p:cNvSpPr/>
          <p:nvPr/>
        </p:nvSpPr>
        <p:spPr>
          <a:xfrm>
            <a:off x="6213348" y="5047488"/>
            <a:ext cx="420624" cy="420624"/>
          </a:xfrm>
          <a:prstGeom prst="ellipse">
            <a:avLst/>
          </a:prstGeom>
          <a:solidFill>
            <a:srgbClr val="E9A13B"/>
          </a:solidFill>
          <a:ln/>
        </p:spPr>
      </p:sp>
      <p:pic>
        <p:nvPicPr>
          <p:cNvPr id="42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327648" y="5161788"/>
            <a:ext cx="192024" cy="192024"/>
          </a:xfrm>
          <a:prstGeom prst="rect">
            <a:avLst/>
          </a:prstGeom>
        </p:spPr>
      </p:pic>
      <p:sp>
        <p:nvSpPr>
          <p:cNvPr id="43" name="Text 33"/>
          <p:cNvSpPr txBox="1"/>
          <p:nvPr/>
        </p:nvSpPr>
        <p:spPr>
          <a:xfrm>
            <a:off x="6213348" y="5577840"/>
            <a:ext cx="239344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Oportunidades</a:t>
            </a:r>
            <a:endParaRPr lang="en-US" sz="1300" dirty="0"/>
          </a:p>
        </p:txBody>
      </p:sp>
      <p:sp>
        <p:nvSpPr>
          <p:cNvPr id="44" name="Text 34"/>
          <p:cNvSpPr txBox="1"/>
          <p:nvPr/>
        </p:nvSpPr>
        <p:spPr>
          <a:xfrm>
            <a:off x="6213348" y="5870448"/>
            <a:ext cx="239344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D8E4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Lê o processo e aponta onde está o ganho</a:t>
            </a:r>
            <a:endParaRPr lang="en-US" sz="1050" dirty="0"/>
          </a:p>
        </p:txBody>
      </p:sp>
      <p:sp>
        <p:nvSpPr>
          <p:cNvPr id="45" name="Shape 35"/>
          <p:cNvSpPr/>
          <p:nvPr/>
        </p:nvSpPr>
        <p:spPr>
          <a:xfrm>
            <a:off x="8844534" y="5047488"/>
            <a:ext cx="420624" cy="420624"/>
          </a:xfrm>
          <a:prstGeom prst="ellipse">
            <a:avLst/>
          </a:prstGeom>
          <a:solidFill>
            <a:srgbClr val="E9A13B"/>
          </a:solidFill>
          <a:ln/>
        </p:spPr>
      </p:sp>
      <p:pic>
        <p:nvPicPr>
          <p:cNvPr id="46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958834" y="5161788"/>
            <a:ext cx="192024" cy="192024"/>
          </a:xfrm>
          <a:prstGeom prst="rect">
            <a:avLst/>
          </a:prstGeom>
        </p:spPr>
      </p:pic>
      <p:sp>
        <p:nvSpPr>
          <p:cNvPr id="47" name="Text 36"/>
          <p:cNvSpPr txBox="1"/>
          <p:nvPr/>
        </p:nvSpPr>
        <p:spPr>
          <a:xfrm>
            <a:off x="8844534" y="5577840"/>
            <a:ext cx="239344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Estudos</a:t>
            </a:r>
            <a:endParaRPr lang="en-US" sz="1300" dirty="0"/>
          </a:p>
        </p:txBody>
      </p:sp>
      <p:sp>
        <p:nvSpPr>
          <p:cNvPr id="48" name="Text 37"/>
          <p:cNvSpPr txBox="1"/>
          <p:nvPr/>
        </p:nvSpPr>
        <p:spPr>
          <a:xfrm>
            <a:off x="8844534" y="5870448"/>
            <a:ext cx="239344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D8E4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Leva análise e recomendação para a reunião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220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66928" y="45720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spc="28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PMO   ·   MAPEAMENTO DOS DASHBOARDS</a:t>
            </a:r>
            <a:endParaRPr lang="en-US" sz="1150" dirty="0"/>
          </a:p>
        </p:txBody>
      </p:sp>
      <p:sp>
        <p:nvSpPr>
          <p:cNvPr id="4" name="Text 1"/>
          <p:cNvSpPr txBox="1"/>
          <p:nvPr/>
        </p:nvSpPr>
        <p:spPr>
          <a:xfrm>
            <a:off x="566928" y="77724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Métricas por carteira</a:t>
            </a:r>
            <a:endParaRPr lang="en-US" sz="2800" dirty="0"/>
          </a:p>
        </p:txBody>
      </p:sp>
      <p:sp>
        <p:nvSpPr>
          <p:cNvPr id="5" name="Text 2"/>
          <p:cNvSpPr txBox="1"/>
          <p:nvPr/>
        </p:nvSpPr>
        <p:spPr>
          <a:xfrm>
            <a:off x="566928" y="13533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D8E4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 métricas mapeadas nos três dashboards — 8 concluídas e 19 em andamento.</a:t>
            </a:r>
            <a:endParaRPr lang="en-US" sz="1300" dirty="0"/>
          </a:p>
        </p:txBody>
      </p:sp>
      <p:sp>
        <p:nvSpPr>
          <p:cNvPr id="6" name="Shape 3"/>
          <p:cNvSpPr/>
          <p:nvPr/>
        </p:nvSpPr>
        <p:spPr>
          <a:xfrm>
            <a:off x="8650224" y="457200"/>
            <a:ext cx="2971800" cy="914400"/>
          </a:xfrm>
          <a:prstGeom prst="roundRect">
            <a:avLst>
              <a:gd name="adj" fmla="val 10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31507F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924544" y="612648"/>
            <a:ext cx="2423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140" kern="0" dirty="0">
                <a:solidFill>
                  <a:srgbClr val="93A9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MÉTRICAS</a:t>
            </a:r>
            <a:endParaRPr lang="en-US" sz="900" dirty="0"/>
          </a:p>
        </p:txBody>
      </p:sp>
      <p:sp>
        <p:nvSpPr>
          <p:cNvPr id="8" name="Text 5"/>
          <p:cNvSpPr txBox="1"/>
          <p:nvPr/>
        </p:nvSpPr>
        <p:spPr>
          <a:xfrm>
            <a:off x="8924544" y="804672"/>
            <a:ext cx="2423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9A1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de 27 concluídas</a:t>
            </a:r>
            <a:endParaRPr lang="en-US" sz="2000" dirty="0"/>
          </a:p>
        </p:txBody>
      </p:sp>
      <p:sp>
        <p:nvSpPr>
          <p:cNvPr id="9" name="Shape 6"/>
          <p:cNvSpPr/>
          <p:nvPr/>
        </p:nvSpPr>
        <p:spPr>
          <a:xfrm>
            <a:off x="8924544" y="1152144"/>
            <a:ext cx="2423160" cy="91440"/>
          </a:xfrm>
          <a:prstGeom prst="roundRect">
            <a:avLst>
              <a:gd name="adj" fmla="val 50000"/>
            </a:avLst>
          </a:prstGeom>
          <a:solidFill>
            <a:srgbClr val="FFFFFF">
              <a:alpha val="20000"/>
            </a:srgbClr>
          </a:solidFill>
          <a:ln w="635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8924544" y="1152144"/>
            <a:ext cx="717973" cy="91440"/>
          </a:xfrm>
          <a:prstGeom prst="roundRect">
            <a:avLst>
              <a:gd name="adj" fmla="val 50000"/>
            </a:avLst>
          </a:prstGeom>
          <a:solidFill>
            <a:srgbClr val="E9A13B"/>
          </a:solidFill>
          <a:ln/>
        </p:spPr>
      </p:sp>
      <p:sp>
        <p:nvSpPr>
          <p:cNvPr id="11" name="Shape 8"/>
          <p:cNvSpPr/>
          <p:nvPr/>
        </p:nvSpPr>
        <p:spPr>
          <a:xfrm>
            <a:off x="566928" y="1901952"/>
            <a:ext cx="3502152" cy="3749040"/>
          </a:xfrm>
          <a:prstGeom prst="roundRect">
            <a:avLst>
              <a:gd name="adj" fmla="val 2872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31507F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841248" y="2139696"/>
            <a:ext cx="2313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8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N5 ONBOARDING</a:t>
            </a:r>
            <a:endParaRPr lang="en-US" sz="1300" dirty="0"/>
          </a:p>
        </p:txBody>
      </p:sp>
      <p:sp>
        <p:nvSpPr>
          <p:cNvPr id="13" name="Text 10"/>
          <p:cNvSpPr txBox="1"/>
          <p:nvPr/>
        </p:nvSpPr>
        <p:spPr>
          <a:xfrm>
            <a:off x="3154680" y="2139696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E9A1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0/9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841248" y="2414016"/>
            <a:ext cx="29535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93A9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Periodicidade a definir  ·  prazos 05 e 10/10</a:t>
            </a:r>
            <a:endParaRPr lang="en-US" sz="900" dirty="0"/>
          </a:p>
        </p:txBody>
      </p:sp>
      <p:sp>
        <p:nvSpPr>
          <p:cNvPr id="15" name="Shape 12"/>
          <p:cNvSpPr/>
          <p:nvPr/>
        </p:nvSpPr>
        <p:spPr>
          <a:xfrm>
            <a:off x="841248" y="2651760"/>
            <a:ext cx="2953512" cy="73152"/>
          </a:xfrm>
          <a:prstGeom prst="roundRect">
            <a:avLst>
              <a:gd name="adj" fmla="val 50000"/>
            </a:avLst>
          </a:prstGeom>
          <a:solidFill>
            <a:srgbClr val="FFFFFF">
              <a:alpha val="20000"/>
            </a:srgbClr>
          </a:solidFill>
          <a:ln w="6350">
            <a:solidFill>
              <a:srgbClr val="FFFFFF">
                <a:alpha val="28000"/>
              </a:srgbClr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41248" y="2871216"/>
            <a:ext cx="29535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3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QUANTITATIVO</a:t>
            </a:r>
            <a:endParaRPr lang="en-US" sz="800" dirty="0"/>
          </a:p>
        </p:txBody>
      </p:sp>
      <p:sp>
        <p:nvSpPr>
          <p:cNvPr id="17" name="Shape 14"/>
          <p:cNvSpPr/>
          <p:nvPr/>
        </p:nvSpPr>
        <p:spPr>
          <a:xfrm>
            <a:off x="859536" y="3145536"/>
            <a:ext cx="100584" cy="100584"/>
          </a:xfrm>
          <a:prstGeom prst="ellipse">
            <a:avLst/>
          </a:prstGeom>
          <a:solidFill>
            <a:srgbClr val="E9A13B">
              <a:alpha val="35000"/>
            </a:srgbClr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1042416" y="3090672"/>
            <a:ext cx="2084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8E4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P.A</a:t>
            </a:r>
            <a:endParaRPr lang="en-US" sz="1000" dirty="0"/>
          </a:p>
        </p:txBody>
      </p:sp>
      <p:sp>
        <p:nvSpPr>
          <p:cNvPr id="19" name="Text 16"/>
          <p:cNvSpPr txBox="1"/>
          <p:nvPr/>
        </p:nvSpPr>
        <p:spPr>
          <a:xfrm>
            <a:off x="3154680" y="3090672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3A9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Cliente</a:t>
            </a:r>
            <a:endParaRPr lang="en-US" sz="850" dirty="0"/>
          </a:p>
        </p:txBody>
      </p:sp>
      <p:sp>
        <p:nvSpPr>
          <p:cNvPr id="20" name="Shape 17"/>
          <p:cNvSpPr/>
          <p:nvPr/>
        </p:nvSpPr>
        <p:spPr>
          <a:xfrm>
            <a:off x="859536" y="3346704"/>
            <a:ext cx="100584" cy="100584"/>
          </a:xfrm>
          <a:prstGeom prst="ellipse">
            <a:avLst/>
          </a:prstGeom>
          <a:solidFill>
            <a:srgbClr val="E9A13B">
              <a:alpha val="35000"/>
            </a:srgbClr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1042416" y="3291840"/>
            <a:ext cx="2084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8E4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Clientes trabalhados</a:t>
            </a:r>
            <a:endParaRPr lang="en-US" sz="1000" dirty="0"/>
          </a:p>
        </p:txBody>
      </p:sp>
      <p:sp>
        <p:nvSpPr>
          <p:cNvPr id="22" name="Text 19"/>
          <p:cNvSpPr txBox="1"/>
          <p:nvPr/>
        </p:nvSpPr>
        <p:spPr>
          <a:xfrm>
            <a:off x="3154680" y="3291840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3A9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Deyvid</a:t>
            </a:r>
            <a:endParaRPr lang="en-US" sz="850" dirty="0"/>
          </a:p>
        </p:txBody>
      </p:sp>
      <p:sp>
        <p:nvSpPr>
          <p:cNvPr id="23" name="Shape 20"/>
          <p:cNvSpPr/>
          <p:nvPr/>
        </p:nvSpPr>
        <p:spPr>
          <a:xfrm>
            <a:off x="859536" y="3547872"/>
            <a:ext cx="100584" cy="100584"/>
          </a:xfrm>
          <a:prstGeom prst="ellipse">
            <a:avLst/>
          </a:prstGeom>
          <a:solidFill>
            <a:srgbClr val="E9A13B">
              <a:alpha val="35000"/>
            </a:srgbClr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1042416" y="3493008"/>
            <a:ext cx="2084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8E4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Clientes finalizados</a:t>
            </a:r>
            <a:endParaRPr lang="en-US" sz="1000" dirty="0"/>
          </a:p>
        </p:txBody>
      </p:sp>
      <p:sp>
        <p:nvSpPr>
          <p:cNvPr id="25" name="Text 22"/>
          <p:cNvSpPr txBox="1"/>
          <p:nvPr/>
        </p:nvSpPr>
        <p:spPr>
          <a:xfrm>
            <a:off x="3154680" y="3493008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3A9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Deyvid</a:t>
            </a:r>
            <a:endParaRPr lang="en-US" sz="850" dirty="0"/>
          </a:p>
        </p:txBody>
      </p:sp>
      <p:sp>
        <p:nvSpPr>
          <p:cNvPr id="26" name="Shape 23"/>
          <p:cNvSpPr/>
          <p:nvPr/>
        </p:nvSpPr>
        <p:spPr>
          <a:xfrm>
            <a:off x="859536" y="3749040"/>
            <a:ext cx="100584" cy="100584"/>
          </a:xfrm>
          <a:prstGeom prst="ellipse">
            <a:avLst/>
          </a:prstGeom>
          <a:solidFill>
            <a:srgbClr val="E9A13B">
              <a:alpha val="35000"/>
            </a:srgbClr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1042416" y="3694176"/>
            <a:ext cx="2084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8E4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SLA</a:t>
            </a:r>
            <a:endParaRPr lang="en-US" sz="1000" dirty="0"/>
          </a:p>
        </p:txBody>
      </p:sp>
      <p:sp>
        <p:nvSpPr>
          <p:cNvPr id="28" name="Text 25"/>
          <p:cNvSpPr txBox="1"/>
          <p:nvPr/>
        </p:nvSpPr>
        <p:spPr>
          <a:xfrm>
            <a:off x="3154680" y="3694176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3A9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Deyvid</a:t>
            </a:r>
            <a:endParaRPr lang="en-US" sz="850" dirty="0"/>
          </a:p>
        </p:txBody>
      </p:sp>
      <p:sp>
        <p:nvSpPr>
          <p:cNvPr id="29" name="Text 26"/>
          <p:cNvSpPr txBox="1"/>
          <p:nvPr/>
        </p:nvSpPr>
        <p:spPr>
          <a:xfrm>
            <a:off x="841248" y="3931920"/>
            <a:ext cx="29535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3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TEMPOS</a:t>
            </a:r>
            <a:endParaRPr lang="en-US" sz="800" dirty="0"/>
          </a:p>
        </p:txBody>
      </p:sp>
      <p:sp>
        <p:nvSpPr>
          <p:cNvPr id="30" name="Shape 27"/>
          <p:cNvSpPr/>
          <p:nvPr/>
        </p:nvSpPr>
        <p:spPr>
          <a:xfrm>
            <a:off x="859536" y="4206240"/>
            <a:ext cx="100584" cy="100584"/>
          </a:xfrm>
          <a:prstGeom prst="ellipse">
            <a:avLst/>
          </a:prstGeom>
          <a:solidFill>
            <a:srgbClr val="E9A13B">
              <a:alpha val="35000"/>
            </a:srgbClr>
          </a:solidFill>
          <a:ln/>
        </p:spPr>
      </p:sp>
      <p:sp>
        <p:nvSpPr>
          <p:cNvPr id="31" name="Text 28"/>
          <p:cNvSpPr txBox="1"/>
          <p:nvPr/>
        </p:nvSpPr>
        <p:spPr>
          <a:xfrm>
            <a:off x="1042416" y="4151376"/>
            <a:ext cx="2084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8E4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Tempo logado</a:t>
            </a:r>
            <a:endParaRPr lang="en-US" sz="1000" dirty="0"/>
          </a:p>
        </p:txBody>
      </p:sp>
      <p:sp>
        <p:nvSpPr>
          <p:cNvPr id="32" name="Text 29"/>
          <p:cNvSpPr txBox="1"/>
          <p:nvPr/>
        </p:nvSpPr>
        <p:spPr>
          <a:xfrm>
            <a:off x="3154680" y="4151376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3A9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Willyan</a:t>
            </a:r>
            <a:endParaRPr lang="en-US" sz="850" dirty="0"/>
          </a:p>
        </p:txBody>
      </p:sp>
      <p:sp>
        <p:nvSpPr>
          <p:cNvPr id="33" name="Shape 30"/>
          <p:cNvSpPr/>
          <p:nvPr/>
        </p:nvSpPr>
        <p:spPr>
          <a:xfrm>
            <a:off x="859536" y="4407408"/>
            <a:ext cx="100584" cy="100584"/>
          </a:xfrm>
          <a:prstGeom prst="ellipse">
            <a:avLst/>
          </a:prstGeom>
          <a:solidFill>
            <a:srgbClr val="E9A13B">
              <a:alpha val="35000"/>
            </a:srgbClr>
          </a:solidFill>
          <a:ln/>
        </p:spPr>
      </p:sp>
      <p:sp>
        <p:nvSpPr>
          <p:cNvPr id="34" name="Text 31"/>
          <p:cNvSpPr txBox="1"/>
          <p:nvPr/>
        </p:nvSpPr>
        <p:spPr>
          <a:xfrm>
            <a:off x="1042416" y="4352544"/>
            <a:ext cx="2084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8E4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Tempo pausas</a:t>
            </a:r>
            <a:endParaRPr lang="en-US" sz="1000" dirty="0"/>
          </a:p>
        </p:txBody>
      </p:sp>
      <p:sp>
        <p:nvSpPr>
          <p:cNvPr id="35" name="Text 32"/>
          <p:cNvSpPr txBox="1"/>
          <p:nvPr/>
        </p:nvSpPr>
        <p:spPr>
          <a:xfrm>
            <a:off x="3154680" y="4352544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3A9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Willyan</a:t>
            </a:r>
            <a:endParaRPr lang="en-US" sz="850" dirty="0"/>
          </a:p>
        </p:txBody>
      </p:sp>
      <p:sp>
        <p:nvSpPr>
          <p:cNvPr id="36" name="Text 33"/>
          <p:cNvSpPr txBox="1"/>
          <p:nvPr/>
        </p:nvSpPr>
        <p:spPr>
          <a:xfrm>
            <a:off x="841248" y="4590288"/>
            <a:ext cx="29535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3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ANÁLISES %</a:t>
            </a:r>
            <a:endParaRPr lang="en-US" sz="800" dirty="0"/>
          </a:p>
        </p:txBody>
      </p:sp>
      <p:sp>
        <p:nvSpPr>
          <p:cNvPr id="37" name="Shape 34"/>
          <p:cNvSpPr/>
          <p:nvPr/>
        </p:nvSpPr>
        <p:spPr>
          <a:xfrm>
            <a:off x="859536" y="4864608"/>
            <a:ext cx="100584" cy="100584"/>
          </a:xfrm>
          <a:prstGeom prst="ellipse">
            <a:avLst/>
          </a:prstGeom>
          <a:solidFill>
            <a:srgbClr val="E9A13B">
              <a:alpha val="35000"/>
            </a:srgbClr>
          </a:solidFill>
          <a:ln/>
        </p:spPr>
      </p:sp>
      <p:sp>
        <p:nvSpPr>
          <p:cNvPr id="38" name="Text 35"/>
          <p:cNvSpPr txBox="1"/>
          <p:nvPr/>
        </p:nvSpPr>
        <p:spPr>
          <a:xfrm>
            <a:off x="1042416" y="4809744"/>
            <a:ext cx="2084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8E4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Clientes / PA</a:t>
            </a:r>
            <a:endParaRPr lang="en-US" sz="1000" dirty="0"/>
          </a:p>
        </p:txBody>
      </p:sp>
      <p:sp>
        <p:nvSpPr>
          <p:cNvPr id="39" name="Text 36"/>
          <p:cNvSpPr txBox="1"/>
          <p:nvPr/>
        </p:nvSpPr>
        <p:spPr>
          <a:xfrm>
            <a:off x="3154680" y="4809744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3A9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Willyan</a:t>
            </a:r>
            <a:endParaRPr lang="en-US" sz="850" dirty="0"/>
          </a:p>
        </p:txBody>
      </p:sp>
      <p:sp>
        <p:nvSpPr>
          <p:cNvPr id="40" name="Shape 37"/>
          <p:cNvSpPr/>
          <p:nvPr/>
        </p:nvSpPr>
        <p:spPr>
          <a:xfrm>
            <a:off x="859536" y="5065776"/>
            <a:ext cx="100584" cy="100584"/>
          </a:xfrm>
          <a:prstGeom prst="ellipse">
            <a:avLst/>
          </a:prstGeom>
          <a:solidFill>
            <a:srgbClr val="E9A13B">
              <a:alpha val="35000"/>
            </a:srgbClr>
          </a:solidFill>
          <a:ln/>
        </p:spPr>
      </p:sp>
      <p:sp>
        <p:nvSpPr>
          <p:cNvPr id="41" name="Text 38"/>
          <p:cNvSpPr txBox="1"/>
          <p:nvPr/>
        </p:nvSpPr>
        <p:spPr>
          <a:xfrm>
            <a:off x="1042416" y="5010912"/>
            <a:ext cx="2084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8E4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Finalizados / PA</a:t>
            </a:r>
            <a:endParaRPr lang="en-US" sz="1000" dirty="0"/>
          </a:p>
        </p:txBody>
      </p:sp>
      <p:sp>
        <p:nvSpPr>
          <p:cNvPr id="42" name="Text 39"/>
          <p:cNvSpPr txBox="1"/>
          <p:nvPr/>
        </p:nvSpPr>
        <p:spPr>
          <a:xfrm>
            <a:off x="3154680" y="5010912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3A9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Willyan</a:t>
            </a:r>
            <a:endParaRPr lang="en-US" sz="850" dirty="0"/>
          </a:p>
        </p:txBody>
      </p:sp>
      <p:sp>
        <p:nvSpPr>
          <p:cNvPr id="43" name="Shape 40"/>
          <p:cNvSpPr/>
          <p:nvPr/>
        </p:nvSpPr>
        <p:spPr>
          <a:xfrm>
            <a:off x="859536" y="5266944"/>
            <a:ext cx="100584" cy="100584"/>
          </a:xfrm>
          <a:prstGeom prst="ellipse">
            <a:avLst/>
          </a:prstGeom>
          <a:solidFill>
            <a:srgbClr val="E9A13B">
              <a:alpha val="35000"/>
            </a:srgbClr>
          </a:solidFill>
          <a:ln/>
        </p:spPr>
      </p:sp>
      <p:sp>
        <p:nvSpPr>
          <p:cNvPr id="44" name="Text 41"/>
          <p:cNvSpPr txBox="1"/>
          <p:nvPr/>
        </p:nvSpPr>
        <p:spPr>
          <a:xfrm>
            <a:off x="1042416" y="5212080"/>
            <a:ext cx="2084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8E4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Reagendados</a:t>
            </a:r>
            <a:endParaRPr lang="en-US" sz="1000" dirty="0"/>
          </a:p>
        </p:txBody>
      </p:sp>
      <p:sp>
        <p:nvSpPr>
          <p:cNvPr id="45" name="Text 42"/>
          <p:cNvSpPr txBox="1"/>
          <p:nvPr/>
        </p:nvSpPr>
        <p:spPr>
          <a:xfrm>
            <a:off x="3154680" y="5212080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3A9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Willyan</a:t>
            </a:r>
            <a:endParaRPr lang="en-US" sz="850" dirty="0"/>
          </a:p>
        </p:txBody>
      </p:sp>
      <p:sp>
        <p:nvSpPr>
          <p:cNvPr id="46" name="Shape 43"/>
          <p:cNvSpPr/>
          <p:nvPr/>
        </p:nvSpPr>
        <p:spPr>
          <a:xfrm>
            <a:off x="4343400" y="1901952"/>
            <a:ext cx="3502152" cy="3749040"/>
          </a:xfrm>
          <a:prstGeom prst="roundRect">
            <a:avLst>
              <a:gd name="adj" fmla="val 2872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31507F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4617720" y="2139696"/>
            <a:ext cx="2313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8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N5 PRÓ-ATIVOS</a:t>
            </a:r>
            <a:endParaRPr lang="en-US" sz="1300" dirty="0"/>
          </a:p>
        </p:txBody>
      </p:sp>
      <p:sp>
        <p:nvSpPr>
          <p:cNvPr id="48" name="Text 45"/>
          <p:cNvSpPr txBox="1"/>
          <p:nvPr/>
        </p:nvSpPr>
        <p:spPr>
          <a:xfrm>
            <a:off x="6931152" y="2139696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E9A1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2/9</a:t>
            </a:r>
            <a:endParaRPr lang="en-US" sz="1400" dirty="0"/>
          </a:p>
        </p:txBody>
      </p:sp>
      <p:sp>
        <p:nvSpPr>
          <p:cNvPr id="49" name="Text 46"/>
          <p:cNvSpPr txBox="1"/>
          <p:nvPr/>
        </p:nvSpPr>
        <p:spPr>
          <a:xfrm>
            <a:off x="4617720" y="2414016"/>
            <a:ext cx="29535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93A9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Periodicidade a definir  ·  prazos 05 e 08/10</a:t>
            </a:r>
            <a:endParaRPr lang="en-US" sz="900" dirty="0"/>
          </a:p>
        </p:txBody>
      </p:sp>
      <p:sp>
        <p:nvSpPr>
          <p:cNvPr id="50" name="Shape 47"/>
          <p:cNvSpPr/>
          <p:nvPr/>
        </p:nvSpPr>
        <p:spPr>
          <a:xfrm>
            <a:off x="4617720" y="2651760"/>
            <a:ext cx="2953512" cy="73152"/>
          </a:xfrm>
          <a:prstGeom prst="roundRect">
            <a:avLst>
              <a:gd name="adj" fmla="val 50000"/>
            </a:avLst>
          </a:prstGeom>
          <a:solidFill>
            <a:srgbClr val="FFFFFF">
              <a:alpha val="20000"/>
            </a:srgbClr>
          </a:solidFill>
          <a:ln w="6350">
            <a:solidFill>
              <a:srgbClr val="FFFFFF">
                <a:alpha val="28000"/>
              </a:srgbClr>
            </a:solidFill>
            <a:prstDash val="solid"/>
          </a:ln>
        </p:spPr>
      </p:sp>
      <p:sp>
        <p:nvSpPr>
          <p:cNvPr id="51" name="Shape 48"/>
          <p:cNvSpPr/>
          <p:nvPr/>
        </p:nvSpPr>
        <p:spPr>
          <a:xfrm>
            <a:off x="4617720" y="2651760"/>
            <a:ext cx="656336" cy="73152"/>
          </a:xfrm>
          <a:prstGeom prst="roundRect">
            <a:avLst>
              <a:gd name="adj" fmla="val 50000"/>
            </a:avLst>
          </a:prstGeom>
          <a:solidFill>
            <a:srgbClr val="E9A13B"/>
          </a:solidFill>
          <a:ln/>
        </p:spPr>
      </p:sp>
      <p:sp>
        <p:nvSpPr>
          <p:cNvPr id="52" name="Text 49"/>
          <p:cNvSpPr txBox="1"/>
          <p:nvPr/>
        </p:nvSpPr>
        <p:spPr>
          <a:xfrm>
            <a:off x="4617720" y="2871216"/>
            <a:ext cx="29535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3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QUANTITATIVO</a:t>
            </a:r>
            <a:endParaRPr lang="en-US" sz="800" dirty="0"/>
          </a:p>
        </p:txBody>
      </p:sp>
      <p:sp>
        <p:nvSpPr>
          <p:cNvPr id="53" name="Shape 50"/>
          <p:cNvSpPr/>
          <p:nvPr/>
        </p:nvSpPr>
        <p:spPr>
          <a:xfrm>
            <a:off x="4636008" y="3145536"/>
            <a:ext cx="100584" cy="100584"/>
          </a:xfrm>
          <a:prstGeom prst="ellipse">
            <a:avLst/>
          </a:prstGeom>
          <a:solidFill>
            <a:srgbClr val="E9A13B">
              <a:alpha val="35000"/>
            </a:srgbClr>
          </a:solidFill>
          <a:ln/>
        </p:spPr>
      </p:sp>
      <p:sp>
        <p:nvSpPr>
          <p:cNvPr id="54" name="Text 51"/>
          <p:cNvSpPr txBox="1"/>
          <p:nvPr/>
        </p:nvSpPr>
        <p:spPr>
          <a:xfrm>
            <a:off x="4818888" y="3090672"/>
            <a:ext cx="2084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8E4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P.A</a:t>
            </a:r>
            <a:endParaRPr lang="en-US" sz="1000" dirty="0"/>
          </a:p>
        </p:txBody>
      </p:sp>
      <p:sp>
        <p:nvSpPr>
          <p:cNvPr id="55" name="Text 52"/>
          <p:cNvSpPr txBox="1"/>
          <p:nvPr/>
        </p:nvSpPr>
        <p:spPr>
          <a:xfrm>
            <a:off x="6931152" y="3090672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3A9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Cliente</a:t>
            </a:r>
            <a:endParaRPr lang="en-US" sz="850" dirty="0"/>
          </a:p>
        </p:txBody>
      </p:sp>
      <p:sp>
        <p:nvSpPr>
          <p:cNvPr id="56" name="Shape 53"/>
          <p:cNvSpPr/>
          <p:nvPr/>
        </p:nvSpPr>
        <p:spPr>
          <a:xfrm>
            <a:off x="4636008" y="3346704"/>
            <a:ext cx="100584" cy="100584"/>
          </a:xfrm>
          <a:prstGeom prst="ellipse">
            <a:avLst/>
          </a:prstGeom>
          <a:solidFill>
            <a:srgbClr val="E9A13B"/>
          </a:solidFill>
          <a:ln/>
        </p:spPr>
      </p:sp>
      <p:sp>
        <p:nvSpPr>
          <p:cNvPr id="57" name="Text 54"/>
          <p:cNvSpPr txBox="1"/>
          <p:nvPr/>
        </p:nvSpPr>
        <p:spPr>
          <a:xfrm>
            <a:off x="4818888" y="3291840"/>
            <a:ext cx="2084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Clientes trabalhados</a:t>
            </a:r>
            <a:endParaRPr lang="en-US" sz="1000" dirty="0"/>
          </a:p>
        </p:txBody>
      </p:sp>
      <p:sp>
        <p:nvSpPr>
          <p:cNvPr id="58" name="Text 55"/>
          <p:cNvSpPr txBox="1"/>
          <p:nvPr/>
        </p:nvSpPr>
        <p:spPr>
          <a:xfrm>
            <a:off x="6931152" y="3291840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3A9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Andressa</a:t>
            </a:r>
            <a:endParaRPr lang="en-US" sz="850" dirty="0"/>
          </a:p>
        </p:txBody>
      </p:sp>
      <p:sp>
        <p:nvSpPr>
          <p:cNvPr id="59" name="Shape 56"/>
          <p:cNvSpPr/>
          <p:nvPr/>
        </p:nvSpPr>
        <p:spPr>
          <a:xfrm>
            <a:off x="4636008" y="3547872"/>
            <a:ext cx="100584" cy="100584"/>
          </a:xfrm>
          <a:prstGeom prst="ellipse">
            <a:avLst/>
          </a:prstGeom>
          <a:solidFill>
            <a:srgbClr val="E9A13B"/>
          </a:solidFill>
          <a:ln/>
        </p:spPr>
      </p:sp>
      <p:sp>
        <p:nvSpPr>
          <p:cNvPr id="60" name="Text 57"/>
          <p:cNvSpPr txBox="1"/>
          <p:nvPr/>
        </p:nvSpPr>
        <p:spPr>
          <a:xfrm>
            <a:off x="4818888" y="3493008"/>
            <a:ext cx="2084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Clientes finalizados</a:t>
            </a:r>
            <a:endParaRPr lang="en-US" sz="1000" dirty="0"/>
          </a:p>
        </p:txBody>
      </p:sp>
      <p:sp>
        <p:nvSpPr>
          <p:cNvPr id="61" name="Text 58"/>
          <p:cNvSpPr txBox="1"/>
          <p:nvPr/>
        </p:nvSpPr>
        <p:spPr>
          <a:xfrm>
            <a:off x="6931152" y="3493008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3A9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Andressa</a:t>
            </a:r>
            <a:endParaRPr lang="en-US" sz="850" dirty="0"/>
          </a:p>
        </p:txBody>
      </p:sp>
      <p:sp>
        <p:nvSpPr>
          <p:cNvPr id="62" name="Shape 59"/>
          <p:cNvSpPr/>
          <p:nvPr/>
        </p:nvSpPr>
        <p:spPr>
          <a:xfrm>
            <a:off x="4636008" y="3749040"/>
            <a:ext cx="100584" cy="100584"/>
          </a:xfrm>
          <a:prstGeom prst="ellipse">
            <a:avLst/>
          </a:prstGeom>
          <a:solidFill>
            <a:srgbClr val="E9A13B">
              <a:alpha val="35000"/>
            </a:srgbClr>
          </a:solidFill>
          <a:ln/>
        </p:spPr>
      </p:sp>
      <p:sp>
        <p:nvSpPr>
          <p:cNvPr id="63" name="Text 60"/>
          <p:cNvSpPr txBox="1"/>
          <p:nvPr/>
        </p:nvSpPr>
        <p:spPr>
          <a:xfrm>
            <a:off x="4818888" y="3694176"/>
            <a:ext cx="2084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8E4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SLA</a:t>
            </a:r>
            <a:endParaRPr lang="en-US" sz="1000" dirty="0"/>
          </a:p>
        </p:txBody>
      </p:sp>
      <p:sp>
        <p:nvSpPr>
          <p:cNvPr id="64" name="Text 61"/>
          <p:cNvSpPr txBox="1"/>
          <p:nvPr/>
        </p:nvSpPr>
        <p:spPr>
          <a:xfrm>
            <a:off x="6931152" y="3694176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3A9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Andressa</a:t>
            </a:r>
            <a:endParaRPr lang="en-US" sz="850" dirty="0"/>
          </a:p>
        </p:txBody>
      </p:sp>
      <p:sp>
        <p:nvSpPr>
          <p:cNvPr id="65" name="Text 62"/>
          <p:cNvSpPr txBox="1"/>
          <p:nvPr/>
        </p:nvSpPr>
        <p:spPr>
          <a:xfrm>
            <a:off x="4617720" y="3931920"/>
            <a:ext cx="29535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3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TEMPOS</a:t>
            </a:r>
            <a:endParaRPr lang="en-US" sz="800" dirty="0"/>
          </a:p>
        </p:txBody>
      </p:sp>
      <p:sp>
        <p:nvSpPr>
          <p:cNvPr id="66" name="Shape 63"/>
          <p:cNvSpPr/>
          <p:nvPr/>
        </p:nvSpPr>
        <p:spPr>
          <a:xfrm>
            <a:off x="4636008" y="4206240"/>
            <a:ext cx="100584" cy="100584"/>
          </a:xfrm>
          <a:prstGeom prst="ellipse">
            <a:avLst/>
          </a:prstGeom>
          <a:solidFill>
            <a:srgbClr val="E9A13B">
              <a:alpha val="35000"/>
            </a:srgbClr>
          </a:solidFill>
          <a:ln/>
        </p:spPr>
      </p:sp>
      <p:sp>
        <p:nvSpPr>
          <p:cNvPr id="67" name="Text 64"/>
          <p:cNvSpPr txBox="1"/>
          <p:nvPr/>
        </p:nvSpPr>
        <p:spPr>
          <a:xfrm>
            <a:off x="4818888" y="4151376"/>
            <a:ext cx="2084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8E4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Tempo logado</a:t>
            </a:r>
            <a:endParaRPr lang="en-US" sz="1000" dirty="0"/>
          </a:p>
        </p:txBody>
      </p:sp>
      <p:sp>
        <p:nvSpPr>
          <p:cNvPr id="68" name="Text 65"/>
          <p:cNvSpPr txBox="1"/>
          <p:nvPr/>
        </p:nvSpPr>
        <p:spPr>
          <a:xfrm>
            <a:off x="6931152" y="4151376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3A9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Willyan</a:t>
            </a:r>
            <a:endParaRPr lang="en-US" sz="850" dirty="0"/>
          </a:p>
        </p:txBody>
      </p:sp>
      <p:sp>
        <p:nvSpPr>
          <p:cNvPr id="69" name="Shape 66"/>
          <p:cNvSpPr/>
          <p:nvPr/>
        </p:nvSpPr>
        <p:spPr>
          <a:xfrm>
            <a:off x="4636008" y="4407408"/>
            <a:ext cx="100584" cy="100584"/>
          </a:xfrm>
          <a:prstGeom prst="ellipse">
            <a:avLst/>
          </a:prstGeom>
          <a:solidFill>
            <a:srgbClr val="E9A13B">
              <a:alpha val="35000"/>
            </a:srgbClr>
          </a:solidFill>
          <a:ln/>
        </p:spPr>
      </p:sp>
      <p:sp>
        <p:nvSpPr>
          <p:cNvPr id="70" name="Text 67"/>
          <p:cNvSpPr txBox="1"/>
          <p:nvPr/>
        </p:nvSpPr>
        <p:spPr>
          <a:xfrm>
            <a:off x="4818888" y="4352544"/>
            <a:ext cx="2084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8E4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Tempo pausas</a:t>
            </a:r>
            <a:endParaRPr lang="en-US" sz="1000" dirty="0"/>
          </a:p>
        </p:txBody>
      </p:sp>
      <p:sp>
        <p:nvSpPr>
          <p:cNvPr id="71" name="Text 68"/>
          <p:cNvSpPr txBox="1"/>
          <p:nvPr/>
        </p:nvSpPr>
        <p:spPr>
          <a:xfrm>
            <a:off x="6931152" y="4352544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3A9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Willyan</a:t>
            </a:r>
            <a:endParaRPr lang="en-US" sz="850" dirty="0"/>
          </a:p>
        </p:txBody>
      </p:sp>
      <p:sp>
        <p:nvSpPr>
          <p:cNvPr id="72" name="Text 69"/>
          <p:cNvSpPr txBox="1"/>
          <p:nvPr/>
        </p:nvSpPr>
        <p:spPr>
          <a:xfrm>
            <a:off x="4617720" y="4590288"/>
            <a:ext cx="29535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3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ANÁLISES %</a:t>
            </a:r>
            <a:endParaRPr lang="en-US" sz="800" dirty="0"/>
          </a:p>
        </p:txBody>
      </p:sp>
      <p:sp>
        <p:nvSpPr>
          <p:cNvPr id="73" name="Shape 70"/>
          <p:cNvSpPr/>
          <p:nvPr/>
        </p:nvSpPr>
        <p:spPr>
          <a:xfrm>
            <a:off x="4636008" y="4864608"/>
            <a:ext cx="100584" cy="100584"/>
          </a:xfrm>
          <a:prstGeom prst="ellipse">
            <a:avLst/>
          </a:prstGeom>
          <a:solidFill>
            <a:srgbClr val="E9A13B">
              <a:alpha val="35000"/>
            </a:srgbClr>
          </a:solidFill>
          <a:ln/>
        </p:spPr>
      </p:sp>
      <p:sp>
        <p:nvSpPr>
          <p:cNvPr id="74" name="Text 71"/>
          <p:cNvSpPr txBox="1"/>
          <p:nvPr/>
        </p:nvSpPr>
        <p:spPr>
          <a:xfrm>
            <a:off x="4818888" y="4809744"/>
            <a:ext cx="2084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8E4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Clientes / PA</a:t>
            </a:r>
            <a:endParaRPr lang="en-US" sz="1000" dirty="0"/>
          </a:p>
        </p:txBody>
      </p:sp>
      <p:sp>
        <p:nvSpPr>
          <p:cNvPr id="75" name="Text 72"/>
          <p:cNvSpPr txBox="1"/>
          <p:nvPr/>
        </p:nvSpPr>
        <p:spPr>
          <a:xfrm>
            <a:off x="6931152" y="4809744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3A9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Willyan</a:t>
            </a:r>
            <a:endParaRPr lang="en-US" sz="850" dirty="0"/>
          </a:p>
        </p:txBody>
      </p:sp>
      <p:sp>
        <p:nvSpPr>
          <p:cNvPr id="76" name="Shape 73"/>
          <p:cNvSpPr/>
          <p:nvPr/>
        </p:nvSpPr>
        <p:spPr>
          <a:xfrm>
            <a:off x="4636008" y="5065776"/>
            <a:ext cx="100584" cy="100584"/>
          </a:xfrm>
          <a:prstGeom prst="ellipse">
            <a:avLst/>
          </a:prstGeom>
          <a:solidFill>
            <a:srgbClr val="E9A13B">
              <a:alpha val="35000"/>
            </a:srgbClr>
          </a:solidFill>
          <a:ln/>
        </p:spPr>
      </p:sp>
      <p:sp>
        <p:nvSpPr>
          <p:cNvPr id="77" name="Text 74"/>
          <p:cNvSpPr txBox="1"/>
          <p:nvPr/>
        </p:nvSpPr>
        <p:spPr>
          <a:xfrm>
            <a:off x="4818888" y="5010912"/>
            <a:ext cx="2084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8E4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Finalizados / PA</a:t>
            </a:r>
            <a:endParaRPr lang="en-US" sz="1000" dirty="0"/>
          </a:p>
        </p:txBody>
      </p:sp>
      <p:sp>
        <p:nvSpPr>
          <p:cNvPr id="78" name="Text 75"/>
          <p:cNvSpPr txBox="1"/>
          <p:nvPr/>
        </p:nvSpPr>
        <p:spPr>
          <a:xfrm>
            <a:off x="6931152" y="5010912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3A9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Willyan</a:t>
            </a:r>
            <a:endParaRPr lang="en-US" sz="850" dirty="0"/>
          </a:p>
        </p:txBody>
      </p:sp>
      <p:sp>
        <p:nvSpPr>
          <p:cNvPr id="79" name="Shape 76"/>
          <p:cNvSpPr/>
          <p:nvPr/>
        </p:nvSpPr>
        <p:spPr>
          <a:xfrm>
            <a:off x="4636008" y="5266944"/>
            <a:ext cx="100584" cy="100584"/>
          </a:xfrm>
          <a:prstGeom prst="ellipse">
            <a:avLst/>
          </a:prstGeom>
          <a:solidFill>
            <a:srgbClr val="E9A13B">
              <a:alpha val="35000"/>
            </a:srgbClr>
          </a:solidFill>
          <a:ln/>
        </p:spPr>
      </p:sp>
      <p:sp>
        <p:nvSpPr>
          <p:cNvPr id="80" name="Text 77"/>
          <p:cNvSpPr txBox="1"/>
          <p:nvPr/>
        </p:nvSpPr>
        <p:spPr>
          <a:xfrm>
            <a:off x="4818888" y="5212080"/>
            <a:ext cx="2084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8E4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Reagendados</a:t>
            </a:r>
            <a:endParaRPr lang="en-US" sz="1000" dirty="0"/>
          </a:p>
        </p:txBody>
      </p:sp>
      <p:sp>
        <p:nvSpPr>
          <p:cNvPr id="81" name="Text 78"/>
          <p:cNvSpPr txBox="1"/>
          <p:nvPr/>
        </p:nvSpPr>
        <p:spPr>
          <a:xfrm>
            <a:off x="6931152" y="5212080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3A9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Willyan</a:t>
            </a:r>
            <a:endParaRPr lang="en-US" sz="850" dirty="0"/>
          </a:p>
        </p:txBody>
      </p:sp>
      <p:sp>
        <p:nvSpPr>
          <p:cNvPr id="82" name="Shape 79"/>
          <p:cNvSpPr/>
          <p:nvPr/>
        </p:nvSpPr>
        <p:spPr>
          <a:xfrm>
            <a:off x="8119872" y="1901952"/>
            <a:ext cx="3502152" cy="3749040"/>
          </a:xfrm>
          <a:prstGeom prst="roundRect">
            <a:avLst>
              <a:gd name="adj" fmla="val 2872"/>
            </a:avLst>
          </a:prstGeom>
          <a:solidFill>
            <a:srgbClr val="E9A13B">
              <a:alpha val="12000"/>
            </a:srgbClr>
          </a:solidFill>
          <a:ln w="19050">
            <a:solidFill>
              <a:srgbClr val="E9A13B"/>
            </a:solidFill>
            <a:prstDash val="solid"/>
          </a:ln>
        </p:spPr>
      </p:sp>
      <p:sp>
        <p:nvSpPr>
          <p:cNvPr id="83" name="Text 80"/>
          <p:cNvSpPr txBox="1"/>
          <p:nvPr/>
        </p:nvSpPr>
        <p:spPr>
          <a:xfrm>
            <a:off x="8394192" y="2139696"/>
            <a:ext cx="2313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8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N4</a:t>
            </a:r>
            <a:endParaRPr lang="en-US" sz="1300" dirty="0"/>
          </a:p>
        </p:txBody>
      </p:sp>
      <p:sp>
        <p:nvSpPr>
          <p:cNvPr id="84" name="Text 81"/>
          <p:cNvSpPr txBox="1"/>
          <p:nvPr/>
        </p:nvSpPr>
        <p:spPr>
          <a:xfrm>
            <a:off x="10707624" y="2139696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E9A1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6/9</a:t>
            </a:r>
            <a:endParaRPr lang="en-US" sz="1400" dirty="0"/>
          </a:p>
        </p:txBody>
      </p:sp>
      <p:sp>
        <p:nvSpPr>
          <p:cNvPr id="85" name="Text 82"/>
          <p:cNvSpPr txBox="1"/>
          <p:nvPr/>
        </p:nvSpPr>
        <p:spPr>
          <a:xfrm>
            <a:off x="8394192" y="2414016"/>
            <a:ext cx="29535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93A9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Diária (D-1)  ·  prazos 05 e 08/10</a:t>
            </a:r>
            <a:endParaRPr lang="en-US" sz="900" dirty="0"/>
          </a:p>
        </p:txBody>
      </p:sp>
      <p:sp>
        <p:nvSpPr>
          <p:cNvPr id="86" name="Shape 83"/>
          <p:cNvSpPr/>
          <p:nvPr/>
        </p:nvSpPr>
        <p:spPr>
          <a:xfrm>
            <a:off x="8394192" y="2651760"/>
            <a:ext cx="2953512" cy="73152"/>
          </a:xfrm>
          <a:prstGeom prst="roundRect">
            <a:avLst>
              <a:gd name="adj" fmla="val 50000"/>
            </a:avLst>
          </a:prstGeom>
          <a:solidFill>
            <a:srgbClr val="FFFFFF">
              <a:alpha val="20000"/>
            </a:srgbClr>
          </a:solidFill>
          <a:ln w="6350">
            <a:solidFill>
              <a:srgbClr val="FFFFFF">
                <a:alpha val="28000"/>
              </a:srgbClr>
            </a:solidFill>
            <a:prstDash val="solid"/>
          </a:ln>
        </p:spPr>
      </p:sp>
      <p:sp>
        <p:nvSpPr>
          <p:cNvPr id="87" name="Shape 84"/>
          <p:cNvSpPr/>
          <p:nvPr/>
        </p:nvSpPr>
        <p:spPr>
          <a:xfrm>
            <a:off x="8394192" y="2651760"/>
            <a:ext cx="1969008" cy="73152"/>
          </a:xfrm>
          <a:prstGeom prst="roundRect">
            <a:avLst>
              <a:gd name="adj" fmla="val 50000"/>
            </a:avLst>
          </a:prstGeom>
          <a:solidFill>
            <a:srgbClr val="E9A13B"/>
          </a:solidFill>
          <a:ln/>
        </p:spPr>
      </p:sp>
      <p:sp>
        <p:nvSpPr>
          <p:cNvPr id="88" name="Text 85"/>
          <p:cNvSpPr txBox="1"/>
          <p:nvPr/>
        </p:nvSpPr>
        <p:spPr>
          <a:xfrm>
            <a:off x="8394192" y="2871216"/>
            <a:ext cx="29535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3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QUANTITATIVO</a:t>
            </a:r>
            <a:endParaRPr lang="en-US" sz="800" dirty="0"/>
          </a:p>
        </p:txBody>
      </p:sp>
      <p:sp>
        <p:nvSpPr>
          <p:cNvPr id="89" name="Shape 86"/>
          <p:cNvSpPr/>
          <p:nvPr/>
        </p:nvSpPr>
        <p:spPr>
          <a:xfrm>
            <a:off x="8412480" y="3145536"/>
            <a:ext cx="100584" cy="100584"/>
          </a:xfrm>
          <a:prstGeom prst="ellipse">
            <a:avLst/>
          </a:prstGeom>
          <a:solidFill>
            <a:srgbClr val="E9A13B">
              <a:alpha val="35000"/>
            </a:srgbClr>
          </a:solidFill>
          <a:ln/>
        </p:spPr>
      </p:sp>
      <p:sp>
        <p:nvSpPr>
          <p:cNvPr id="90" name="Text 87"/>
          <p:cNvSpPr txBox="1"/>
          <p:nvPr/>
        </p:nvSpPr>
        <p:spPr>
          <a:xfrm>
            <a:off x="8595360" y="3090672"/>
            <a:ext cx="2084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8E4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P.A</a:t>
            </a:r>
            <a:endParaRPr lang="en-US" sz="1000" dirty="0"/>
          </a:p>
        </p:txBody>
      </p:sp>
      <p:sp>
        <p:nvSpPr>
          <p:cNvPr id="91" name="Text 88"/>
          <p:cNvSpPr txBox="1"/>
          <p:nvPr/>
        </p:nvSpPr>
        <p:spPr>
          <a:xfrm>
            <a:off x="10707624" y="3090672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3A9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Cliente</a:t>
            </a:r>
            <a:endParaRPr lang="en-US" sz="850" dirty="0"/>
          </a:p>
        </p:txBody>
      </p:sp>
      <p:sp>
        <p:nvSpPr>
          <p:cNvPr id="92" name="Shape 89"/>
          <p:cNvSpPr/>
          <p:nvPr/>
        </p:nvSpPr>
        <p:spPr>
          <a:xfrm>
            <a:off x="8412480" y="3346704"/>
            <a:ext cx="100584" cy="100584"/>
          </a:xfrm>
          <a:prstGeom prst="ellipse">
            <a:avLst/>
          </a:prstGeom>
          <a:solidFill>
            <a:srgbClr val="E9A13B"/>
          </a:solidFill>
          <a:ln/>
        </p:spPr>
      </p:sp>
      <p:sp>
        <p:nvSpPr>
          <p:cNvPr id="93" name="Text 90"/>
          <p:cNvSpPr txBox="1"/>
          <p:nvPr/>
        </p:nvSpPr>
        <p:spPr>
          <a:xfrm>
            <a:off x="8595360" y="3291840"/>
            <a:ext cx="2084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Clientes trabalhados</a:t>
            </a:r>
            <a:endParaRPr lang="en-US" sz="1000" dirty="0"/>
          </a:p>
        </p:txBody>
      </p:sp>
      <p:sp>
        <p:nvSpPr>
          <p:cNvPr id="94" name="Text 91"/>
          <p:cNvSpPr txBox="1"/>
          <p:nvPr/>
        </p:nvSpPr>
        <p:spPr>
          <a:xfrm>
            <a:off x="10707624" y="3291840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3A9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Deyvid</a:t>
            </a:r>
            <a:endParaRPr lang="en-US" sz="850" dirty="0"/>
          </a:p>
        </p:txBody>
      </p:sp>
      <p:sp>
        <p:nvSpPr>
          <p:cNvPr id="95" name="Shape 92"/>
          <p:cNvSpPr/>
          <p:nvPr/>
        </p:nvSpPr>
        <p:spPr>
          <a:xfrm>
            <a:off x="8412480" y="3547872"/>
            <a:ext cx="100584" cy="100584"/>
          </a:xfrm>
          <a:prstGeom prst="ellipse">
            <a:avLst/>
          </a:prstGeom>
          <a:solidFill>
            <a:srgbClr val="E9A13B"/>
          </a:solidFill>
          <a:ln/>
        </p:spPr>
      </p:sp>
      <p:sp>
        <p:nvSpPr>
          <p:cNvPr id="96" name="Text 93"/>
          <p:cNvSpPr txBox="1"/>
          <p:nvPr/>
        </p:nvSpPr>
        <p:spPr>
          <a:xfrm>
            <a:off x="8595360" y="3493008"/>
            <a:ext cx="2084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Clientes finalizados</a:t>
            </a:r>
            <a:endParaRPr lang="en-US" sz="1000" dirty="0"/>
          </a:p>
        </p:txBody>
      </p:sp>
      <p:sp>
        <p:nvSpPr>
          <p:cNvPr id="97" name="Text 94"/>
          <p:cNvSpPr txBox="1"/>
          <p:nvPr/>
        </p:nvSpPr>
        <p:spPr>
          <a:xfrm>
            <a:off x="10707624" y="3493008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3A9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Deyvid</a:t>
            </a:r>
            <a:endParaRPr lang="en-US" sz="850" dirty="0"/>
          </a:p>
        </p:txBody>
      </p:sp>
      <p:sp>
        <p:nvSpPr>
          <p:cNvPr id="98" name="Shape 95"/>
          <p:cNvSpPr/>
          <p:nvPr/>
        </p:nvSpPr>
        <p:spPr>
          <a:xfrm>
            <a:off x="8412480" y="3749040"/>
            <a:ext cx="100584" cy="100584"/>
          </a:xfrm>
          <a:prstGeom prst="ellipse">
            <a:avLst/>
          </a:prstGeom>
          <a:solidFill>
            <a:srgbClr val="E9A13B"/>
          </a:solidFill>
          <a:ln/>
        </p:spPr>
      </p:sp>
      <p:sp>
        <p:nvSpPr>
          <p:cNvPr id="99" name="Text 96"/>
          <p:cNvSpPr txBox="1"/>
          <p:nvPr/>
        </p:nvSpPr>
        <p:spPr>
          <a:xfrm>
            <a:off x="8595360" y="3694176"/>
            <a:ext cx="2084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SLA</a:t>
            </a:r>
            <a:endParaRPr lang="en-US" sz="1000" dirty="0"/>
          </a:p>
        </p:txBody>
      </p:sp>
      <p:sp>
        <p:nvSpPr>
          <p:cNvPr id="100" name="Text 97"/>
          <p:cNvSpPr txBox="1"/>
          <p:nvPr/>
        </p:nvSpPr>
        <p:spPr>
          <a:xfrm>
            <a:off x="10707624" y="3694176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3A9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Deyvid</a:t>
            </a:r>
            <a:endParaRPr lang="en-US" sz="850" dirty="0"/>
          </a:p>
        </p:txBody>
      </p:sp>
      <p:sp>
        <p:nvSpPr>
          <p:cNvPr id="101" name="Text 98"/>
          <p:cNvSpPr txBox="1"/>
          <p:nvPr/>
        </p:nvSpPr>
        <p:spPr>
          <a:xfrm>
            <a:off x="8394192" y="3931920"/>
            <a:ext cx="29535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3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TEMPOS</a:t>
            </a:r>
            <a:endParaRPr lang="en-US" sz="800" dirty="0"/>
          </a:p>
        </p:txBody>
      </p:sp>
      <p:sp>
        <p:nvSpPr>
          <p:cNvPr id="102" name="Shape 99"/>
          <p:cNvSpPr/>
          <p:nvPr/>
        </p:nvSpPr>
        <p:spPr>
          <a:xfrm>
            <a:off x="8412480" y="4206240"/>
            <a:ext cx="100584" cy="100584"/>
          </a:xfrm>
          <a:prstGeom prst="ellipse">
            <a:avLst/>
          </a:prstGeom>
          <a:solidFill>
            <a:srgbClr val="E9A13B">
              <a:alpha val="35000"/>
            </a:srgbClr>
          </a:solidFill>
          <a:ln/>
        </p:spPr>
      </p:sp>
      <p:sp>
        <p:nvSpPr>
          <p:cNvPr id="103" name="Text 100"/>
          <p:cNvSpPr txBox="1"/>
          <p:nvPr/>
        </p:nvSpPr>
        <p:spPr>
          <a:xfrm>
            <a:off x="8595360" y="4151376"/>
            <a:ext cx="2084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8E4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Tempo logado</a:t>
            </a:r>
            <a:endParaRPr lang="en-US" sz="1000" dirty="0"/>
          </a:p>
        </p:txBody>
      </p:sp>
      <p:sp>
        <p:nvSpPr>
          <p:cNvPr id="104" name="Text 101"/>
          <p:cNvSpPr txBox="1"/>
          <p:nvPr/>
        </p:nvSpPr>
        <p:spPr>
          <a:xfrm>
            <a:off x="10707624" y="4151376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3A9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Willyan</a:t>
            </a:r>
            <a:endParaRPr lang="en-US" sz="850" dirty="0"/>
          </a:p>
        </p:txBody>
      </p:sp>
      <p:sp>
        <p:nvSpPr>
          <p:cNvPr id="105" name="Shape 102"/>
          <p:cNvSpPr/>
          <p:nvPr/>
        </p:nvSpPr>
        <p:spPr>
          <a:xfrm>
            <a:off x="8412480" y="4407408"/>
            <a:ext cx="100584" cy="100584"/>
          </a:xfrm>
          <a:prstGeom prst="ellipse">
            <a:avLst/>
          </a:prstGeom>
          <a:solidFill>
            <a:srgbClr val="E9A13B">
              <a:alpha val="35000"/>
            </a:srgbClr>
          </a:solidFill>
          <a:ln/>
        </p:spPr>
      </p:sp>
      <p:sp>
        <p:nvSpPr>
          <p:cNvPr id="106" name="Text 103"/>
          <p:cNvSpPr txBox="1"/>
          <p:nvPr/>
        </p:nvSpPr>
        <p:spPr>
          <a:xfrm>
            <a:off x="8595360" y="4352544"/>
            <a:ext cx="2084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8E4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Tempo pausas</a:t>
            </a:r>
            <a:endParaRPr lang="en-US" sz="1000" dirty="0"/>
          </a:p>
        </p:txBody>
      </p:sp>
      <p:sp>
        <p:nvSpPr>
          <p:cNvPr id="107" name="Text 104"/>
          <p:cNvSpPr txBox="1"/>
          <p:nvPr/>
        </p:nvSpPr>
        <p:spPr>
          <a:xfrm>
            <a:off x="10707624" y="4352544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3A9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Willyan</a:t>
            </a:r>
            <a:endParaRPr lang="en-US" sz="850" dirty="0"/>
          </a:p>
        </p:txBody>
      </p:sp>
      <p:sp>
        <p:nvSpPr>
          <p:cNvPr id="108" name="Text 105"/>
          <p:cNvSpPr txBox="1"/>
          <p:nvPr/>
        </p:nvSpPr>
        <p:spPr>
          <a:xfrm>
            <a:off x="8394192" y="4590288"/>
            <a:ext cx="29535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3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ANÁLISES %</a:t>
            </a:r>
            <a:endParaRPr lang="en-US" sz="800" dirty="0"/>
          </a:p>
        </p:txBody>
      </p:sp>
      <p:sp>
        <p:nvSpPr>
          <p:cNvPr id="109" name="Shape 106"/>
          <p:cNvSpPr/>
          <p:nvPr/>
        </p:nvSpPr>
        <p:spPr>
          <a:xfrm>
            <a:off x="8412480" y="4864608"/>
            <a:ext cx="100584" cy="100584"/>
          </a:xfrm>
          <a:prstGeom prst="ellipse">
            <a:avLst/>
          </a:prstGeom>
          <a:solidFill>
            <a:srgbClr val="E9A13B"/>
          </a:solidFill>
          <a:ln/>
        </p:spPr>
      </p:sp>
      <p:sp>
        <p:nvSpPr>
          <p:cNvPr id="110" name="Text 107"/>
          <p:cNvSpPr txBox="1"/>
          <p:nvPr/>
        </p:nvSpPr>
        <p:spPr>
          <a:xfrm>
            <a:off x="8595360" y="4809744"/>
            <a:ext cx="2084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Clientes / PA</a:t>
            </a:r>
            <a:endParaRPr lang="en-US" sz="1000" dirty="0"/>
          </a:p>
        </p:txBody>
      </p:sp>
      <p:sp>
        <p:nvSpPr>
          <p:cNvPr id="111" name="Text 108"/>
          <p:cNvSpPr txBox="1"/>
          <p:nvPr/>
        </p:nvSpPr>
        <p:spPr>
          <a:xfrm>
            <a:off x="10707624" y="4809744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3A9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Willyan</a:t>
            </a:r>
            <a:endParaRPr lang="en-US" sz="850" dirty="0"/>
          </a:p>
        </p:txBody>
      </p:sp>
      <p:sp>
        <p:nvSpPr>
          <p:cNvPr id="112" name="Shape 109"/>
          <p:cNvSpPr/>
          <p:nvPr/>
        </p:nvSpPr>
        <p:spPr>
          <a:xfrm>
            <a:off x="8412480" y="5065776"/>
            <a:ext cx="100584" cy="100584"/>
          </a:xfrm>
          <a:prstGeom prst="ellipse">
            <a:avLst/>
          </a:prstGeom>
          <a:solidFill>
            <a:srgbClr val="E9A13B"/>
          </a:solidFill>
          <a:ln/>
        </p:spPr>
      </p:sp>
      <p:sp>
        <p:nvSpPr>
          <p:cNvPr id="113" name="Text 110"/>
          <p:cNvSpPr txBox="1"/>
          <p:nvPr/>
        </p:nvSpPr>
        <p:spPr>
          <a:xfrm>
            <a:off x="8595360" y="5010912"/>
            <a:ext cx="2084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Finalizados / PA</a:t>
            </a:r>
            <a:endParaRPr lang="en-US" sz="1000" dirty="0"/>
          </a:p>
        </p:txBody>
      </p:sp>
      <p:sp>
        <p:nvSpPr>
          <p:cNvPr id="114" name="Text 111"/>
          <p:cNvSpPr txBox="1"/>
          <p:nvPr/>
        </p:nvSpPr>
        <p:spPr>
          <a:xfrm>
            <a:off x="10707624" y="5010912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3A9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Willyan</a:t>
            </a:r>
            <a:endParaRPr lang="en-US" sz="850" dirty="0"/>
          </a:p>
        </p:txBody>
      </p:sp>
      <p:sp>
        <p:nvSpPr>
          <p:cNvPr id="115" name="Shape 112"/>
          <p:cNvSpPr/>
          <p:nvPr/>
        </p:nvSpPr>
        <p:spPr>
          <a:xfrm>
            <a:off x="8412480" y="5266944"/>
            <a:ext cx="100584" cy="100584"/>
          </a:xfrm>
          <a:prstGeom prst="ellipse">
            <a:avLst/>
          </a:prstGeom>
          <a:solidFill>
            <a:srgbClr val="E9A13B"/>
          </a:solidFill>
          <a:ln/>
        </p:spPr>
      </p:sp>
      <p:sp>
        <p:nvSpPr>
          <p:cNvPr id="116" name="Text 113"/>
          <p:cNvSpPr txBox="1"/>
          <p:nvPr/>
        </p:nvSpPr>
        <p:spPr>
          <a:xfrm>
            <a:off x="8595360" y="5212080"/>
            <a:ext cx="2084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Reagendados</a:t>
            </a:r>
            <a:endParaRPr lang="en-US" sz="1000" dirty="0"/>
          </a:p>
        </p:txBody>
      </p:sp>
      <p:sp>
        <p:nvSpPr>
          <p:cNvPr id="117" name="Text 114"/>
          <p:cNvSpPr txBox="1"/>
          <p:nvPr/>
        </p:nvSpPr>
        <p:spPr>
          <a:xfrm>
            <a:off x="10707624" y="5212080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3A9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Willyan</a:t>
            </a:r>
            <a:endParaRPr lang="en-US" sz="850" dirty="0"/>
          </a:p>
        </p:txBody>
      </p:sp>
      <p:sp>
        <p:nvSpPr>
          <p:cNvPr id="118" name="Shape 115"/>
          <p:cNvSpPr/>
          <p:nvPr/>
        </p:nvSpPr>
        <p:spPr>
          <a:xfrm>
            <a:off x="566928" y="5870448"/>
            <a:ext cx="11055096" cy="548640"/>
          </a:xfrm>
          <a:prstGeom prst="roundRect">
            <a:avLst>
              <a:gd name="adj" fmla="val 15000"/>
            </a:avLst>
          </a:prstGeom>
          <a:solidFill>
            <a:srgbClr val="FFFFFF">
              <a:alpha val="6000"/>
            </a:srgbClr>
          </a:solidFill>
          <a:ln w="12700">
            <a:solidFill>
              <a:srgbClr val="31507F"/>
            </a:solidFill>
            <a:prstDash val="solid"/>
          </a:ln>
        </p:spPr>
      </p:sp>
      <p:sp>
        <p:nvSpPr>
          <p:cNvPr id="119" name="Text 116"/>
          <p:cNvSpPr txBox="1"/>
          <p:nvPr/>
        </p:nvSpPr>
        <p:spPr>
          <a:xfrm>
            <a:off x="932688" y="5870448"/>
            <a:ext cx="103235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3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ORIGEM DOS DADOS   </a:t>
            </a:r>
            <a:pPr indent="0" marL="0">
              <a:buNone/>
            </a:pPr>
            <a:r>
              <a:rPr lang="en-US" sz="1100" dirty="0">
                <a:solidFill>
                  <a:srgbClr val="D8E4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CRM  ·  Pmóvel  ·  Planilha do supervisor  ·  Dashboard</a:t>
            </a:r>
            <a:pPr indent="0" marL="0">
              <a:buNone/>
            </a:pPr>
            <a:r>
              <a:rPr lang="en-US" sz="900" b="1" spc="13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   FOCAIS   </a:t>
            </a:r>
            <a:pPr indent="0" marL="0">
              <a:buNone/>
            </a:pPr>
            <a:r>
              <a:rPr lang="en-US" sz="1100" dirty="0">
                <a:solidFill>
                  <a:srgbClr val="D8E4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Willyan  ·  Deyvid  ·  Andressa  ·  Cliente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220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66928" y="45720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spc="28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PMO   ·   PROCESSOS RECORRENTES</a:t>
            </a:r>
            <a:endParaRPr lang="en-US" sz="1150" dirty="0"/>
          </a:p>
        </p:txBody>
      </p:sp>
      <p:sp>
        <p:nvSpPr>
          <p:cNvPr id="4" name="Text 1"/>
          <p:cNvSpPr txBox="1"/>
          <p:nvPr/>
        </p:nvSpPr>
        <p:spPr>
          <a:xfrm>
            <a:off x="566928" y="77724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Quem opera cada rotina</a:t>
            </a:r>
            <a:endParaRPr lang="en-US" sz="2800" dirty="0"/>
          </a:p>
        </p:txBody>
      </p:sp>
      <p:sp>
        <p:nvSpPr>
          <p:cNvPr id="5" name="Text 2"/>
          <p:cNvSpPr txBox="1"/>
          <p:nvPr/>
        </p:nvSpPr>
        <p:spPr>
          <a:xfrm>
            <a:off x="566928" y="13533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D8E4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rotinas em 3 carteiras — 4 concluídas, 4 em andamento e 4 pendentes de acesso externo.</a:t>
            </a:r>
            <a:endParaRPr lang="en-US" sz="1300" dirty="0"/>
          </a:p>
        </p:txBody>
      </p:sp>
      <p:sp>
        <p:nvSpPr>
          <p:cNvPr id="6" name="Shape 3"/>
          <p:cNvSpPr/>
          <p:nvPr/>
        </p:nvSpPr>
        <p:spPr>
          <a:xfrm>
            <a:off x="8650224" y="457200"/>
            <a:ext cx="2971800" cy="914400"/>
          </a:xfrm>
          <a:prstGeom prst="roundRect">
            <a:avLst>
              <a:gd name="adj" fmla="val 10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31507F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924544" y="612648"/>
            <a:ext cx="2423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140" kern="0" dirty="0">
                <a:solidFill>
                  <a:srgbClr val="93A9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ROTINAS</a:t>
            </a:r>
            <a:endParaRPr lang="en-US" sz="900" dirty="0"/>
          </a:p>
        </p:txBody>
      </p:sp>
      <p:sp>
        <p:nvSpPr>
          <p:cNvPr id="8" name="Text 5"/>
          <p:cNvSpPr txBox="1"/>
          <p:nvPr/>
        </p:nvSpPr>
        <p:spPr>
          <a:xfrm>
            <a:off x="8924544" y="804672"/>
            <a:ext cx="2423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9A1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de 12 concluídas</a:t>
            </a:r>
            <a:endParaRPr lang="en-US" sz="2000" dirty="0"/>
          </a:p>
        </p:txBody>
      </p:sp>
      <p:sp>
        <p:nvSpPr>
          <p:cNvPr id="9" name="Shape 6"/>
          <p:cNvSpPr/>
          <p:nvPr/>
        </p:nvSpPr>
        <p:spPr>
          <a:xfrm>
            <a:off x="8924544" y="1152144"/>
            <a:ext cx="2423160" cy="91440"/>
          </a:xfrm>
          <a:prstGeom prst="roundRect">
            <a:avLst>
              <a:gd name="adj" fmla="val 50000"/>
            </a:avLst>
          </a:prstGeom>
          <a:solidFill>
            <a:srgbClr val="FFFFFF">
              <a:alpha val="20000"/>
            </a:srgbClr>
          </a:solidFill>
          <a:ln w="635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8924544" y="1152144"/>
            <a:ext cx="807720" cy="91440"/>
          </a:xfrm>
          <a:prstGeom prst="roundRect">
            <a:avLst>
              <a:gd name="adj" fmla="val 50000"/>
            </a:avLst>
          </a:prstGeom>
          <a:solidFill>
            <a:srgbClr val="E9A13B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3767328" y="1920240"/>
            <a:ext cx="2496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4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N5 PRÓ-ATIVOS</a:t>
            </a:r>
            <a:endParaRPr lang="en-US" sz="1000" dirty="0"/>
          </a:p>
        </p:txBody>
      </p:sp>
      <p:sp>
        <p:nvSpPr>
          <p:cNvPr id="12" name="Text 9"/>
          <p:cNvSpPr txBox="1"/>
          <p:nvPr/>
        </p:nvSpPr>
        <p:spPr>
          <a:xfrm>
            <a:off x="6446520" y="1920240"/>
            <a:ext cx="2496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4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N5 ONBOARDING</a:t>
            </a:r>
            <a:endParaRPr lang="en-US" sz="1000" dirty="0"/>
          </a:p>
        </p:txBody>
      </p:sp>
      <p:sp>
        <p:nvSpPr>
          <p:cNvPr id="13" name="Text 10"/>
          <p:cNvSpPr txBox="1"/>
          <p:nvPr/>
        </p:nvSpPr>
        <p:spPr>
          <a:xfrm>
            <a:off x="9125712" y="1920240"/>
            <a:ext cx="2496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4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N4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566928" y="2286000"/>
            <a:ext cx="11055096" cy="786384"/>
          </a:xfrm>
          <a:prstGeom prst="roundRect">
            <a:avLst>
              <a:gd name="adj" fmla="val 9302"/>
            </a:avLst>
          </a:prstGeom>
          <a:solidFill>
            <a:srgbClr val="FFFFFF">
              <a:alpha val="6000"/>
            </a:srgbClr>
          </a:solidFill>
          <a:ln w="12700">
            <a:solidFill>
              <a:srgbClr val="31507F">
                <a:alpha val="55000"/>
              </a:srgbClr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841248" y="2377440"/>
            <a:ext cx="2743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Preenchimento dos dados para apresentação de resultados</a:t>
            </a:r>
            <a:endParaRPr lang="en-US" sz="1150" dirty="0"/>
          </a:p>
        </p:txBody>
      </p:sp>
      <p:sp>
        <p:nvSpPr>
          <p:cNvPr id="16" name="Text 13"/>
          <p:cNvSpPr txBox="1"/>
          <p:nvPr/>
        </p:nvSpPr>
        <p:spPr>
          <a:xfrm>
            <a:off x="841248" y="2798064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9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Semanal  ·  N5 quartas, N4 terças</a:t>
            </a:r>
            <a:endParaRPr lang="en-US" sz="900" dirty="0"/>
          </a:p>
        </p:txBody>
      </p:sp>
      <p:sp>
        <p:nvSpPr>
          <p:cNvPr id="17" name="Shape 14"/>
          <p:cNvSpPr/>
          <p:nvPr/>
        </p:nvSpPr>
        <p:spPr>
          <a:xfrm>
            <a:off x="4261104" y="2450592"/>
            <a:ext cx="1508760" cy="237744"/>
          </a:xfrm>
          <a:prstGeom prst="roundRect">
            <a:avLst>
              <a:gd name="adj" fmla="val 23077"/>
            </a:avLst>
          </a:prstGeom>
          <a:solidFill>
            <a:srgbClr val="FFFFFF">
              <a:alpha val="7000"/>
            </a:srgbClr>
          </a:solidFill>
          <a:ln w="9525">
            <a:solidFill>
              <a:srgbClr val="D8E4F4">
                <a:alpha val="50000"/>
              </a:srgbClr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4261104" y="2450592"/>
            <a:ext cx="1508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spc="50" kern="0" dirty="0">
                <a:solidFill>
                  <a:srgbClr val="D8E4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PENDENTE ACESSO</a:t>
            </a:r>
            <a:endParaRPr lang="en-US" sz="750" dirty="0"/>
          </a:p>
        </p:txBody>
      </p:sp>
      <p:sp>
        <p:nvSpPr>
          <p:cNvPr id="19" name="Text 16"/>
          <p:cNvSpPr txBox="1"/>
          <p:nvPr/>
        </p:nvSpPr>
        <p:spPr>
          <a:xfrm>
            <a:off x="3767328" y="2743200"/>
            <a:ext cx="24963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D8E4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Juliana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6940296" y="2450592"/>
            <a:ext cx="1508760" cy="237744"/>
          </a:xfrm>
          <a:prstGeom prst="roundRect">
            <a:avLst>
              <a:gd name="adj" fmla="val 23077"/>
            </a:avLst>
          </a:prstGeom>
          <a:solidFill>
            <a:srgbClr val="FFFFFF">
              <a:alpha val="7000"/>
            </a:srgbClr>
          </a:solidFill>
          <a:ln w="9525">
            <a:solidFill>
              <a:srgbClr val="D8E4F4">
                <a:alpha val="50000"/>
              </a:srgbClr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6940296" y="2450592"/>
            <a:ext cx="1508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spc="50" kern="0" dirty="0">
                <a:solidFill>
                  <a:srgbClr val="D8E4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PENDENTE ACESSO</a:t>
            </a:r>
            <a:endParaRPr lang="en-US" sz="750" dirty="0"/>
          </a:p>
        </p:txBody>
      </p:sp>
      <p:sp>
        <p:nvSpPr>
          <p:cNvPr id="22" name="Text 19"/>
          <p:cNvSpPr txBox="1"/>
          <p:nvPr/>
        </p:nvSpPr>
        <p:spPr>
          <a:xfrm>
            <a:off x="6446520" y="2743200"/>
            <a:ext cx="24963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D8E4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Juliana</a:t>
            </a:r>
            <a:endParaRPr lang="en-US" sz="1000" dirty="0"/>
          </a:p>
        </p:txBody>
      </p:sp>
      <p:sp>
        <p:nvSpPr>
          <p:cNvPr id="23" name="Shape 20"/>
          <p:cNvSpPr/>
          <p:nvPr/>
        </p:nvSpPr>
        <p:spPr>
          <a:xfrm>
            <a:off x="9619488" y="2450592"/>
            <a:ext cx="1508760" cy="237744"/>
          </a:xfrm>
          <a:prstGeom prst="roundRect">
            <a:avLst>
              <a:gd name="adj" fmla="val 23077"/>
            </a:avLst>
          </a:prstGeom>
          <a:solidFill>
            <a:srgbClr val="FFFFFF">
              <a:alpha val="7000"/>
            </a:srgbClr>
          </a:solidFill>
          <a:ln w="9525">
            <a:solidFill>
              <a:srgbClr val="D8E4F4">
                <a:alpha val="50000"/>
              </a:srgbClr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9619488" y="2450592"/>
            <a:ext cx="1508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spc="50" kern="0" dirty="0">
                <a:solidFill>
                  <a:srgbClr val="D8E4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PENDENTE ACESSO</a:t>
            </a:r>
            <a:endParaRPr lang="en-US" sz="750" dirty="0"/>
          </a:p>
        </p:txBody>
      </p:sp>
      <p:sp>
        <p:nvSpPr>
          <p:cNvPr id="25" name="Text 22"/>
          <p:cNvSpPr txBox="1"/>
          <p:nvPr/>
        </p:nvSpPr>
        <p:spPr>
          <a:xfrm>
            <a:off x="9125712" y="2743200"/>
            <a:ext cx="24963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D8E4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Juliana</a:t>
            </a:r>
            <a:endParaRPr lang="en-US" sz="1000" dirty="0"/>
          </a:p>
        </p:txBody>
      </p:sp>
      <p:sp>
        <p:nvSpPr>
          <p:cNvPr id="26" name="Shape 23"/>
          <p:cNvSpPr/>
          <p:nvPr/>
        </p:nvSpPr>
        <p:spPr>
          <a:xfrm>
            <a:off x="566928" y="3182112"/>
            <a:ext cx="11055096" cy="786384"/>
          </a:xfrm>
          <a:prstGeom prst="roundRect">
            <a:avLst>
              <a:gd name="adj" fmla="val 9302"/>
            </a:avLst>
          </a:prstGeom>
          <a:solidFill>
            <a:srgbClr val="FFFFFF">
              <a:alpha val="6000"/>
            </a:srgbClr>
          </a:solidFill>
          <a:ln w="12700">
            <a:solidFill>
              <a:srgbClr val="31507F">
                <a:alpha val="55000"/>
              </a:srgbClr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841248" y="3273552"/>
            <a:ext cx="2743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Desenvolvimento do HXH operacional</a:t>
            </a:r>
            <a:endParaRPr lang="en-US" sz="1150" dirty="0"/>
          </a:p>
        </p:txBody>
      </p:sp>
      <p:sp>
        <p:nvSpPr>
          <p:cNvPr id="28" name="Text 25"/>
          <p:cNvSpPr txBox="1"/>
          <p:nvPr/>
        </p:nvSpPr>
        <p:spPr>
          <a:xfrm>
            <a:off x="841248" y="3694176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9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Diário</a:t>
            </a:r>
            <a:endParaRPr lang="en-US" sz="900" dirty="0"/>
          </a:p>
        </p:txBody>
      </p:sp>
      <p:sp>
        <p:nvSpPr>
          <p:cNvPr id="29" name="Shape 26"/>
          <p:cNvSpPr/>
          <p:nvPr/>
        </p:nvSpPr>
        <p:spPr>
          <a:xfrm>
            <a:off x="4261104" y="3346704"/>
            <a:ext cx="1508760" cy="237744"/>
          </a:xfrm>
          <a:prstGeom prst="roundRect">
            <a:avLst>
              <a:gd name="adj" fmla="val 23077"/>
            </a:avLst>
          </a:prstGeom>
          <a:solidFill>
            <a:srgbClr val="FFFFFF">
              <a:alpha val="12000"/>
            </a:srgbClr>
          </a:solidFill>
          <a:ln w="9525">
            <a:solidFill>
              <a:srgbClr val="E9A13B">
                <a:alpha val="50000"/>
              </a:srgbClr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261104" y="3346704"/>
            <a:ext cx="1508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spc="5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ANDAMENTO</a:t>
            </a:r>
            <a:endParaRPr lang="en-US" sz="750" dirty="0"/>
          </a:p>
        </p:txBody>
      </p:sp>
      <p:sp>
        <p:nvSpPr>
          <p:cNvPr id="31" name="Text 28"/>
          <p:cNvSpPr txBox="1"/>
          <p:nvPr/>
        </p:nvSpPr>
        <p:spPr>
          <a:xfrm>
            <a:off x="3767328" y="3639312"/>
            <a:ext cx="24963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D8E4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Deyvid</a:t>
            </a:r>
            <a:endParaRPr lang="en-US" sz="1000" dirty="0"/>
          </a:p>
        </p:txBody>
      </p:sp>
      <p:sp>
        <p:nvSpPr>
          <p:cNvPr id="32" name="Shape 29"/>
          <p:cNvSpPr/>
          <p:nvPr/>
        </p:nvSpPr>
        <p:spPr>
          <a:xfrm>
            <a:off x="6940296" y="3346704"/>
            <a:ext cx="1508760" cy="237744"/>
          </a:xfrm>
          <a:prstGeom prst="roundRect">
            <a:avLst>
              <a:gd name="adj" fmla="val 23077"/>
            </a:avLst>
          </a:prstGeom>
          <a:solidFill>
            <a:srgbClr val="FFFFFF">
              <a:alpha val="12000"/>
            </a:srgbClr>
          </a:solidFill>
          <a:ln w="9525">
            <a:solidFill>
              <a:srgbClr val="E9A13B">
                <a:alpha val="50000"/>
              </a:srgbClr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6940296" y="3346704"/>
            <a:ext cx="1508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spc="5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ANDAMENTO</a:t>
            </a:r>
            <a:endParaRPr lang="en-US" sz="750" dirty="0"/>
          </a:p>
        </p:txBody>
      </p:sp>
      <p:sp>
        <p:nvSpPr>
          <p:cNvPr id="34" name="Text 31"/>
          <p:cNvSpPr txBox="1"/>
          <p:nvPr/>
        </p:nvSpPr>
        <p:spPr>
          <a:xfrm>
            <a:off x="6446520" y="3639312"/>
            <a:ext cx="24963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D8E4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Andressa</a:t>
            </a:r>
            <a:endParaRPr lang="en-US" sz="1000" dirty="0"/>
          </a:p>
        </p:txBody>
      </p:sp>
      <p:sp>
        <p:nvSpPr>
          <p:cNvPr id="35" name="Shape 32"/>
          <p:cNvSpPr/>
          <p:nvPr/>
        </p:nvSpPr>
        <p:spPr>
          <a:xfrm>
            <a:off x="9619488" y="3346704"/>
            <a:ext cx="1508760" cy="237744"/>
          </a:xfrm>
          <a:prstGeom prst="roundRect">
            <a:avLst>
              <a:gd name="adj" fmla="val 23077"/>
            </a:avLst>
          </a:prstGeom>
          <a:solidFill>
            <a:srgbClr val="E9A13B"/>
          </a:solidFill>
          <a:ln w="9525">
            <a:solidFill>
              <a:srgbClr val="E9A13B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9619488" y="3346704"/>
            <a:ext cx="1508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spc="50" kern="0" dirty="0">
                <a:solidFill>
                  <a:srgbClr val="1627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CONCLUÍDO</a:t>
            </a:r>
            <a:endParaRPr lang="en-US" sz="750" dirty="0"/>
          </a:p>
        </p:txBody>
      </p:sp>
      <p:sp>
        <p:nvSpPr>
          <p:cNvPr id="37" name="Text 34"/>
          <p:cNvSpPr txBox="1"/>
          <p:nvPr/>
        </p:nvSpPr>
        <p:spPr>
          <a:xfrm>
            <a:off x="9125712" y="3639312"/>
            <a:ext cx="24963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D8E4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Lucas</a:t>
            </a:r>
            <a:endParaRPr lang="en-US" sz="1000" dirty="0"/>
          </a:p>
        </p:txBody>
      </p:sp>
      <p:sp>
        <p:nvSpPr>
          <p:cNvPr id="38" name="Shape 35"/>
          <p:cNvSpPr/>
          <p:nvPr/>
        </p:nvSpPr>
        <p:spPr>
          <a:xfrm>
            <a:off x="566928" y="4078224"/>
            <a:ext cx="11055096" cy="786384"/>
          </a:xfrm>
          <a:prstGeom prst="roundRect">
            <a:avLst>
              <a:gd name="adj" fmla="val 9302"/>
            </a:avLst>
          </a:prstGeom>
          <a:solidFill>
            <a:srgbClr val="FFFFFF">
              <a:alpha val="6000"/>
            </a:srgbClr>
          </a:solidFill>
          <a:ln w="12700">
            <a:solidFill>
              <a:srgbClr val="31507F">
                <a:alpha val="55000"/>
              </a:srgbClr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841248" y="4169664"/>
            <a:ext cx="2743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Envio do HXH operacional</a:t>
            </a:r>
            <a:endParaRPr lang="en-US" sz="1150" dirty="0"/>
          </a:p>
        </p:txBody>
      </p:sp>
      <p:sp>
        <p:nvSpPr>
          <p:cNvPr id="40" name="Text 37"/>
          <p:cNvSpPr txBox="1"/>
          <p:nvPr/>
        </p:nvSpPr>
        <p:spPr>
          <a:xfrm>
            <a:off x="841248" y="4590288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9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Diário</a:t>
            </a:r>
            <a:endParaRPr lang="en-US" sz="900" dirty="0"/>
          </a:p>
        </p:txBody>
      </p:sp>
      <p:sp>
        <p:nvSpPr>
          <p:cNvPr id="41" name="Shape 38"/>
          <p:cNvSpPr/>
          <p:nvPr/>
        </p:nvSpPr>
        <p:spPr>
          <a:xfrm>
            <a:off x="4261104" y="4242816"/>
            <a:ext cx="1508760" cy="237744"/>
          </a:xfrm>
          <a:prstGeom prst="roundRect">
            <a:avLst>
              <a:gd name="adj" fmla="val 23077"/>
            </a:avLst>
          </a:prstGeom>
          <a:solidFill>
            <a:srgbClr val="FFFFFF">
              <a:alpha val="12000"/>
            </a:srgbClr>
          </a:solidFill>
          <a:ln w="9525">
            <a:solidFill>
              <a:srgbClr val="E9A13B">
                <a:alpha val="50000"/>
              </a:srgbClr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4261104" y="4242816"/>
            <a:ext cx="1508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spc="5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ANDAMENTO</a:t>
            </a:r>
            <a:endParaRPr lang="en-US" sz="750" dirty="0"/>
          </a:p>
        </p:txBody>
      </p:sp>
      <p:sp>
        <p:nvSpPr>
          <p:cNvPr id="43" name="Text 40"/>
          <p:cNvSpPr txBox="1"/>
          <p:nvPr/>
        </p:nvSpPr>
        <p:spPr>
          <a:xfrm>
            <a:off x="3767328" y="4535424"/>
            <a:ext cx="24963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D8E4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Deyvid</a:t>
            </a:r>
            <a:endParaRPr lang="en-US" sz="1000" dirty="0"/>
          </a:p>
        </p:txBody>
      </p:sp>
      <p:sp>
        <p:nvSpPr>
          <p:cNvPr id="44" name="Shape 41"/>
          <p:cNvSpPr/>
          <p:nvPr/>
        </p:nvSpPr>
        <p:spPr>
          <a:xfrm>
            <a:off x="6940296" y="4242816"/>
            <a:ext cx="1508760" cy="237744"/>
          </a:xfrm>
          <a:prstGeom prst="roundRect">
            <a:avLst>
              <a:gd name="adj" fmla="val 23077"/>
            </a:avLst>
          </a:prstGeom>
          <a:solidFill>
            <a:srgbClr val="FFFFFF">
              <a:alpha val="12000"/>
            </a:srgbClr>
          </a:solidFill>
          <a:ln w="9525">
            <a:solidFill>
              <a:srgbClr val="E9A13B">
                <a:alpha val="50000"/>
              </a:srgbClr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6940296" y="4242816"/>
            <a:ext cx="1508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spc="5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ANDAMENTO</a:t>
            </a:r>
            <a:endParaRPr lang="en-US" sz="750" dirty="0"/>
          </a:p>
        </p:txBody>
      </p:sp>
      <p:sp>
        <p:nvSpPr>
          <p:cNvPr id="46" name="Text 43"/>
          <p:cNvSpPr txBox="1"/>
          <p:nvPr/>
        </p:nvSpPr>
        <p:spPr>
          <a:xfrm>
            <a:off x="6446520" y="4535424"/>
            <a:ext cx="24963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D8E4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Andressa</a:t>
            </a:r>
            <a:endParaRPr lang="en-US" sz="1000" dirty="0"/>
          </a:p>
        </p:txBody>
      </p:sp>
      <p:sp>
        <p:nvSpPr>
          <p:cNvPr id="47" name="Shape 44"/>
          <p:cNvSpPr/>
          <p:nvPr/>
        </p:nvSpPr>
        <p:spPr>
          <a:xfrm>
            <a:off x="9619488" y="4242816"/>
            <a:ext cx="1508760" cy="237744"/>
          </a:xfrm>
          <a:prstGeom prst="roundRect">
            <a:avLst>
              <a:gd name="adj" fmla="val 23077"/>
            </a:avLst>
          </a:prstGeom>
          <a:solidFill>
            <a:srgbClr val="E9A13B"/>
          </a:solidFill>
          <a:ln w="9525">
            <a:solidFill>
              <a:srgbClr val="E9A13B"/>
            </a:solidFill>
            <a:prstDash val="solid"/>
          </a:ln>
        </p:spPr>
      </p:sp>
      <p:sp>
        <p:nvSpPr>
          <p:cNvPr id="48" name="Text 45"/>
          <p:cNvSpPr txBox="1"/>
          <p:nvPr/>
        </p:nvSpPr>
        <p:spPr>
          <a:xfrm>
            <a:off x="9619488" y="4242816"/>
            <a:ext cx="1508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spc="50" kern="0" dirty="0">
                <a:solidFill>
                  <a:srgbClr val="1627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CONCLUÍDO</a:t>
            </a:r>
            <a:endParaRPr lang="en-US" sz="750" dirty="0"/>
          </a:p>
        </p:txBody>
      </p:sp>
      <p:sp>
        <p:nvSpPr>
          <p:cNvPr id="49" name="Text 46"/>
          <p:cNvSpPr txBox="1"/>
          <p:nvPr/>
        </p:nvSpPr>
        <p:spPr>
          <a:xfrm>
            <a:off x="9125712" y="4535424"/>
            <a:ext cx="24963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D8E4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Lucas</a:t>
            </a:r>
            <a:endParaRPr lang="en-US" sz="1000" dirty="0"/>
          </a:p>
        </p:txBody>
      </p:sp>
      <p:sp>
        <p:nvSpPr>
          <p:cNvPr id="50" name="Shape 47"/>
          <p:cNvSpPr/>
          <p:nvPr/>
        </p:nvSpPr>
        <p:spPr>
          <a:xfrm>
            <a:off x="566928" y="4974336"/>
            <a:ext cx="11055096" cy="786384"/>
          </a:xfrm>
          <a:prstGeom prst="roundRect">
            <a:avLst>
              <a:gd name="adj" fmla="val 9302"/>
            </a:avLst>
          </a:prstGeom>
          <a:solidFill>
            <a:srgbClr val="FFFFFF">
              <a:alpha val="6000"/>
            </a:srgbClr>
          </a:solidFill>
          <a:ln w="12700">
            <a:solidFill>
              <a:srgbClr val="31507F">
                <a:alpha val="55000"/>
              </a:srgbClr>
            </a:solidFill>
            <a:prstDash val="solid"/>
          </a:ln>
        </p:spPr>
      </p:sp>
      <p:sp>
        <p:nvSpPr>
          <p:cNvPr id="51" name="Text 48"/>
          <p:cNvSpPr txBox="1"/>
          <p:nvPr/>
        </p:nvSpPr>
        <p:spPr>
          <a:xfrm>
            <a:off x="841248" y="5065776"/>
            <a:ext cx="2743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Análise dos dados e insights</a:t>
            </a:r>
            <a:endParaRPr lang="en-US" sz="1150" dirty="0"/>
          </a:p>
        </p:txBody>
      </p:sp>
      <p:sp>
        <p:nvSpPr>
          <p:cNvPr id="52" name="Text 49"/>
          <p:cNvSpPr txBox="1"/>
          <p:nvPr/>
        </p:nvSpPr>
        <p:spPr>
          <a:xfrm>
            <a:off x="841248" y="548640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9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Diário</a:t>
            </a:r>
            <a:endParaRPr lang="en-US" sz="900" dirty="0"/>
          </a:p>
        </p:txBody>
      </p:sp>
      <p:sp>
        <p:nvSpPr>
          <p:cNvPr id="53" name="Shape 50"/>
          <p:cNvSpPr/>
          <p:nvPr/>
        </p:nvSpPr>
        <p:spPr>
          <a:xfrm>
            <a:off x="4261104" y="5138928"/>
            <a:ext cx="1508760" cy="237744"/>
          </a:xfrm>
          <a:prstGeom prst="roundRect">
            <a:avLst>
              <a:gd name="adj" fmla="val 23077"/>
            </a:avLst>
          </a:prstGeom>
          <a:solidFill>
            <a:srgbClr val="FFFFFF">
              <a:alpha val="7000"/>
            </a:srgbClr>
          </a:solidFill>
          <a:ln w="9525">
            <a:solidFill>
              <a:srgbClr val="D8E4F4">
                <a:alpha val="50000"/>
              </a:srgbClr>
            </a:solidFill>
            <a:prstDash val="solid"/>
          </a:ln>
        </p:spPr>
      </p:sp>
      <p:sp>
        <p:nvSpPr>
          <p:cNvPr id="54" name="Text 51"/>
          <p:cNvSpPr txBox="1"/>
          <p:nvPr/>
        </p:nvSpPr>
        <p:spPr>
          <a:xfrm>
            <a:off x="4261104" y="5138928"/>
            <a:ext cx="1508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spc="50" kern="0" dirty="0">
                <a:solidFill>
                  <a:srgbClr val="D8E4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PENDENTE ACESSO</a:t>
            </a:r>
            <a:endParaRPr lang="en-US" sz="750" dirty="0"/>
          </a:p>
        </p:txBody>
      </p:sp>
      <p:sp>
        <p:nvSpPr>
          <p:cNvPr id="55" name="Text 52"/>
          <p:cNvSpPr txBox="1"/>
          <p:nvPr/>
        </p:nvSpPr>
        <p:spPr>
          <a:xfrm>
            <a:off x="3767328" y="5431536"/>
            <a:ext cx="24963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D8E4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Deyvid</a:t>
            </a:r>
            <a:endParaRPr lang="en-US" sz="1000" dirty="0"/>
          </a:p>
        </p:txBody>
      </p:sp>
      <p:sp>
        <p:nvSpPr>
          <p:cNvPr id="56" name="Shape 53"/>
          <p:cNvSpPr/>
          <p:nvPr/>
        </p:nvSpPr>
        <p:spPr>
          <a:xfrm>
            <a:off x="6940296" y="5138928"/>
            <a:ext cx="1508760" cy="237744"/>
          </a:xfrm>
          <a:prstGeom prst="roundRect">
            <a:avLst>
              <a:gd name="adj" fmla="val 23077"/>
            </a:avLst>
          </a:prstGeom>
          <a:solidFill>
            <a:srgbClr val="FFFFFF">
              <a:alpha val="7000"/>
            </a:srgbClr>
          </a:solidFill>
          <a:ln w="9525">
            <a:solidFill>
              <a:srgbClr val="D8E4F4">
                <a:alpha val="50000"/>
              </a:srgbClr>
            </a:solidFill>
            <a:prstDash val="solid"/>
          </a:ln>
        </p:spPr>
      </p:sp>
      <p:sp>
        <p:nvSpPr>
          <p:cNvPr id="57" name="Text 54"/>
          <p:cNvSpPr txBox="1"/>
          <p:nvPr/>
        </p:nvSpPr>
        <p:spPr>
          <a:xfrm>
            <a:off x="6940296" y="5138928"/>
            <a:ext cx="1508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spc="50" kern="0" dirty="0">
                <a:solidFill>
                  <a:srgbClr val="D8E4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PENDENTE ACESSO</a:t>
            </a:r>
            <a:endParaRPr lang="en-US" sz="750" dirty="0"/>
          </a:p>
        </p:txBody>
      </p:sp>
      <p:sp>
        <p:nvSpPr>
          <p:cNvPr id="58" name="Text 55"/>
          <p:cNvSpPr txBox="1"/>
          <p:nvPr/>
        </p:nvSpPr>
        <p:spPr>
          <a:xfrm>
            <a:off x="6446520" y="5431536"/>
            <a:ext cx="24963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D8E4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Andressa</a:t>
            </a:r>
            <a:endParaRPr lang="en-US" sz="1000" dirty="0"/>
          </a:p>
        </p:txBody>
      </p:sp>
      <p:sp>
        <p:nvSpPr>
          <p:cNvPr id="59" name="Shape 56"/>
          <p:cNvSpPr/>
          <p:nvPr/>
        </p:nvSpPr>
        <p:spPr>
          <a:xfrm>
            <a:off x="9619488" y="5138928"/>
            <a:ext cx="1508760" cy="237744"/>
          </a:xfrm>
          <a:prstGeom prst="roundRect">
            <a:avLst>
              <a:gd name="adj" fmla="val 23077"/>
            </a:avLst>
          </a:prstGeom>
          <a:solidFill>
            <a:srgbClr val="E9A13B"/>
          </a:solidFill>
          <a:ln w="9525">
            <a:solidFill>
              <a:srgbClr val="E9A13B"/>
            </a:solidFill>
            <a:prstDash val="solid"/>
          </a:ln>
        </p:spPr>
      </p:sp>
      <p:sp>
        <p:nvSpPr>
          <p:cNvPr id="60" name="Text 57"/>
          <p:cNvSpPr txBox="1"/>
          <p:nvPr/>
        </p:nvSpPr>
        <p:spPr>
          <a:xfrm>
            <a:off x="9619488" y="5138928"/>
            <a:ext cx="1508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spc="50" kern="0" dirty="0">
                <a:solidFill>
                  <a:srgbClr val="1627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CONCLUÍDO</a:t>
            </a:r>
            <a:endParaRPr lang="en-US" sz="750" dirty="0"/>
          </a:p>
        </p:txBody>
      </p:sp>
      <p:sp>
        <p:nvSpPr>
          <p:cNvPr id="61" name="Text 58"/>
          <p:cNvSpPr txBox="1"/>
          <p:nvPr/>
        </p:nvSpPr>
        <p:spPr>
          <a:xfrm>
            <a:off x="9125712" y="5431536"/>
            <a:ext cx="24963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D8E4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Lucas</a:t>
            </a:r>
            <a:endParaRPr lang="en-US" sz="1000" dirty="0"/>
          </a:p>
        </p:txBody>
      </p:sp>
      <p:sp>
        <p:nvSpPr>
          <p:cNvPr id="62" name="Shape 59"/>
          <p:cNvSpPr/>
          <p:nvPr/>
        </p:nvSpPr>
        <p:spPr>
          <a:xfrm>
            <a:off x="566928" y="5980176"/>
            <a:ext cx="11055096" cy="841248"/>
          </a:xfrm>
          <a:prstGeom prst="roundRect">
            <a:avLst>
              <a:gd name="adj" fmla="val 9783"/>
            </a:avLst>
          </a:prstGeom>
          <a:solidFill>
            <a:srgbClr val="E9A13B">
              <a:alpha val="11000"/>
            </a:srgbClr>
          </a:solidFill>
          <a:ln w="17780">
            <a:solidFill>
              <a:srgbClr val="E9A13B"/>
            </a:solidFill>
            <a:prstDash val="solid"/>
          </a:ln>
        </p:spPr>
      </p:sp>
      <p:sp>
        <p:nvSpPr>
          <p:cNvPr id="63" name="Shape 60"/>
          <p:cNvSpPr/>
          <p:nvPr/>
        </p:nvSpPr>
        <p:spPr>
          <a:xfrm>
            <a:off x="932688" y="6272784"/>
            <a:ext cx="256032" cy="256032"/>
          </a:xfrm>
          <a:prstGeom prst="ellipse">
            <a:avLst/>
          </a:prstGeom>
          <a:solidFill>
            <a:srgbClr val="E9A13B"/>
          </a:solidFill>
          <a:ln/>
        </p:spPr>
      </p:sp>
      <p:pic>
        <p:nvPicPr>
          <p:cNvPr id="6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6696" y="6336792"/>
            <a:ext cx="128016" cy="128016"/>
          </a:xfrm>
          <a:prstGeom prst="rect">
            <a:avLst/>
          </a:prstGeom>
        </p:spPr>
      </p:pic>
      <p:sp>
        <p:nvSpPr>
          <p:cNvPr id="65" name="Text 61"/>
          <p:cNvSpPr txBox="1"/>
          <p:nvPr/>
        </p:nvSpPr>
        <p:spPr>
          <a:xfrm>
            <a:off x="1298448" y="5980176"/>
            <a:ext cx="9957816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acesso externo é o que destrava 4 das 12 rotinas.  </a:t>
            </a:r>
            <a:pPr indent="0" marL="0">
              <a:buNone/>
            </a:pPr>
            <a:r>
              <a:rPr lang="en-US" sz="1150" dirty="0">
                <a:solidFill>
                  <a:srgbClr val="D8E4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preenchimento para a apresentação semanal e a análise de insights das duas carteiras N5 dependem do acesso aos KPI's Meli.</a:t>
            </a:r>
            <a:endParaRPr lang="en-US" sz="11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220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66928" y="45720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spc="28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PMO   ·   REUNIÕES DE ALINHAMENTO</a:t>
            </a:r>
            <a:endParaRPr lang="en-US" sz="1150" dirty="0"/>
          </a:p>
        </p:txBody>
      </p:sp>
      <p:sp>
        <p:nvSpPr>
          <p:cNvPr id="4" name="Text 1"/>
          <p:cNvSpPr txBox="1"/>
          <p:nvPr/>
        </p:nvSpPr>
        <p:spPr>
          <a:xfrm>
            <a:off x="566928" y="77724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Frentes em aberto</a:t>
            </a:r>
            <a:endParaRPr lang="en-US" sz="2800" dirty="0"/>
          </a:p>
        </p:txBody>
      </p:sp>
      <p:sp>
        <p:nvSpPr>
          <p:cNvPr id="5" name="Text 2"/>
          <p:cNvSpPr txBox="1"/>
          <p:nvPr/>
        </p:nvSpPr>
        <p:spPr>
          <a:xfrm>
            <a:off x="566928" y="13533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D8E4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frentes acordadas nos alinhamentos — prazos entre 09 e 13/10.</a:t>
            </a:r>
            <a:endParaRPr lang="en-US" sz="1300" dirty="0"/>
          </a:p>
        </p:txBody>
      </p:sp>
      <p:sp>
        <p:nvSpPr>
          <p:cNvPr id="6" name="Shape 3"/>
          <p:cNvSpPr/>
          <p:nvPr/>
        </p:nvSpPr>
        <p:spPr>
          <a:xfrm>
            <a:off x="8650224" y="457200"/>
            <a:ext cx="2971800" cy="914400"/>
          </a:xfrm>
          <a:prstGeom prst="roundRect">
            <a:avLst>
              <a:gd name="adj" fmla="val 10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31507F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924544" y="612648"/>
            <a:ext cx="2423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140" kern="0" dirty="0">
                <a:solidFill>
                  <a:srgbClr val="93A9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PRÓXIMO MARCO</a:t>
            </a:r>
            <a:endParaRPr lang="en-US" sz="900" dirty="0"/>
          </a:p>
        </p:txBody>
      </p:sp>
      <p:sp>
        <p:nvSpPr>
          <p:cNvPr id="8" name="Text 5"/>
          <p:cNvSpPr txBox="1"/>
          <p:nvPr/>
        </p:nvSpPr>
        <p:spPr>
          <a:xfrm>
            <a:off x="8924544" y="786384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9A1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13/10</a:t>
            </a:r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4 frentes com prazo</a:t>
            </a:r>
            <a:endParaRPr lang="en-US" sz="2000" dirty="0"/>
          </a:p>
        </p:txBody>
      </p:sp>
      <p:sp>
        <p:nvSpPr>
          <p:cNvPr id="9" name="Text 6"/>
          <p:cNvSpPr txBox="1"/>
          <p:nvPr/>
        </p:nvSpPr>
        <p:spPr>
          <a:xfrm>
            <a:off x="8924544" y="1097280"/>
            <a:ext cx="2423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D8E4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Aging: 09/10</a:t>
            </a:r>
            <a:endParaRPr lang="en-US" sz="950" dirty="0"/>
          </a:p>
        </p:txBody>
      </p:sp>
      <p:sp>
        <p:nvSpPr>
          <p:cNvPr id="10" name="Shape 7"/>
          <p:cNvSpPr/>
          <p:nvPr/>
        </p:nvSpPr>
        <p:spPr>
          <a:xfrm>
            <a:off x="566928" y="1901952"/>
            <a:ext cx="5426964" cy="1188720"/>
          </a:xfrm>
          <a:prstGeom prst="roundRect">
            <a:avLst>
              <a:gd name="adj" fmla="val 8462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31507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41248" y="2139696"/>
            <a:ext cx="365760" cy="365760"/>
          </a:xfrm>
          <a:prstGeom prst="ellipse">
            <a:avLst/>
          </a:prstGeom>
          <a:solidFill>
            <a:srgbClr val="E9A13B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688" y="2231136"/>
            <a:ext cx="182880" cy="18288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1316736" y="2121408"/>
            <a:ext cx="32781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Apresentação de resultados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4622292" y="2157984"/>
            <a:ext cx="1097280" cy="237744"/>
          </a:xfrm>
          <a:prstGeom prst="roundRect">
            <a:avLst>
              <a:gd name="adj" fmla="val 23077"/>
            </a:avLst>
          </a:prstGeom>
          <a:solidFill>
            <a:srgbClr val="FFFFFF">
              <a:alpha val="7000"/>
            </a:srgbClr>
          </a:solidFill>
          <a:ln w="9525">
            <a:solidFill>
              <a:srgbClr val="D8E4F4">
                <a:alpha val="50000"/>
              </a:srgbClr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4622292" y="2157984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spc="50" kern="0" dirty="0">
                <a:solidFill>
                  <a:srgbClr val="D8E4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PENDENTE EXT</a:t>
            </a:r>
            <a:endParaRPr lang="en-US" sz="750" dirty="0"/>
          </a:p>
        </p:txBody>
      </p:sp>
      <p:sp>
        <p:nvSpPr>
          <p:cNvPr id="16" name="Text 12"/>
          <p:cNvSpPr txBox="1"/>
          <p:nvPr/>
        </p:nvSpPr>
        <p:spPr>
          <a:xfrm>
            <a:off x="841248" y="2505456"/>
            <a:ext cx="48783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D8E4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Rodada semanal às quintas-feiras, com os dados já consolidados.</a:t>
            </a:r>
            <a:endParaRPr lang="en-US" sz="950" dirty="0"/>
          </a:p>
        </p:txBody>
      </p:sp>
      <p:sp>
        <p:nvSpPr>
          <p:cNvPr id="17" name="Shape 13"/>
          <p:cNvSpPr/>
          <p:nvPr/>
        </p:nvSpPr>
        <p:spPr>
          <a:xfrm>
            <a:off x="6195060" y="1901952"/>
            <a:ext cx="5426964" cy="1188720"/>
          </a:xfrm>
          <a:prstGeom prst="roundRect">
            <a:avLst>
              <a:gd name="adj" fmla="val 8462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31507F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6469380" y="2139696"/>
            <a:ext cx="365760" cy="365760"/>
          </a:xfrm>
          <a:prstGeom prst="ellipse">
            <a:avLst/>
          </a:prstGeom>
          <a:solidFill>
            <a:srgbClr val="E9A13B"/>
          </a:solidFill>
          <a:ln/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60820" y="2231136"/>
            <a:ext cx="182880" cy="182880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6944868" y="2121408"/>
            <a:ext cx="32781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Dimensionamento</a:t>
            </a:r>
            <a:endParaRPr lang="en-US" sz="1200" dirty="0"/>
          </a:p>
        </p:txBody>
      </p:sp>
      <p:sp>
        <p:nvSpPr>
          <p:cNvPr id="21" name="Shape 16"/>
          <p:cNvSpPr/>
          <p:nvPr/>
        </p:nvSpPr>
        <p:spPr>
          <a:xfrm>
            <a:off x="10250424" y="2157984"/>
            <a:ext cx="1097280" cy="237744"/>
          </a:xfrm>
          <a:prstGeom prst="roundRect">
            <a:avLst>
              <a:gd name="adj" fmla="val 23077"/>
            </a:avLst>
          </a:prstGeom>
          <a:solidFill>
            <a:srgbClr val="FFFFFF">
              <a:alpha val="12000"/>
            </a:srgbClr>
          </a:solidFill>
          <a:ln w="9525">
            <a:solidFill>
              <a:srgbClr val="E9A13B">
                <a:alpha val="50000"/>
              </a:srgbClr>
            </a:solidFill>
            <a:prstDash val="solid"/>
          </a:ln>
        </p:spPr>
      </p:sp>
      <p:sp>
        <p:nvSpPr>
          <p:cNvPr id="22" name="Text 17"/>
          <p:cNvSpPr txBox="1"/>
          <p:nvPr/>
        </p:nvSpPr>
        <p:spPr>
          <a:xfrm>
            <a:off x="10250424" y="2157984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spc="5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13/10</a:t>
            </a:r>
            <a:endParaRPr lang="en-US" sz="750" dirty="0"/>
          </a:p>
        </p:txBody>
      </p:sp>
      <p:sp>
        <p:nvSpPr>
          <p:cNvPr id="23" name="Text 18"/>
          <p:cNvSpPr txBox="1"/>
          <p:nvPr/>
        </p:nvSpPr>
        <p:spPr>
          <a:xfrm>
            <a:off x="6469380" y="2505456"/>
            <a:ext cx="48783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D8E4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Demanda entrante + backlog. Avaliar os dados nesta semana e movimentar a partir da próxima.</a:t>
            </a:r>
            <a:endParaRPr lang="en-US" sz="950" dirty="0"/>
          </a:p>
        </p:txBody>
      </p:sp>
      <p:sp>
        <p:nvSpPr>
          <p:cNvPr id="24" name="Shape 19"/>
          <p:cNvSpPr/>
          <p:nvPr/>
        </p:nvSpPr>
        <p:spPr>
          <a:xfrm>
            <a:off x="566928" y="3291840"/>
            <a:ext cx="5426964" cy="1188720"/>
          </a:xfrm>
          <a:prstGeom prst="roundRect">
            <a:avLst>
              <a:gd name="adj" fmla="val 8462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31507F"/>
            </a:solidFill>
            <a:prstDash val="solid"/>
          </a:ln>
        </p:spPr>
      </p:sp>
      <p:sp>
        <p:nvSpPr>
          <p:cNvPr id="25" name="Shape 20"/>
          <p:cNvSpPr/>
          <p:nvPr/>
        </p:nvSpPr>
        <p:spPr>
          <a:xfrm>
            <a:off x="841248" y="3529584"/>
            <a:ext cx="365760" cy="365760"/>
          </a:xfrm>
          <a:prstGeom prst="ellipse">
            <a:avLst/>
          </a:prstGeom>
          <a:solidFill>
            <a:srgbClr val="E9A13B"/>
          </a:solidFill>
          <a:ln/>
        </p:spPr>
      </p:sp>
      <p:pic>
        <p:nvPicPr>
          <p:cNvPr id="2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2688" y="3621024"/>
            <a:ext cx="182880" cy="182880"/>
          </a:xfrm>
          <a:prstGeom prst="rect">
            <a:avLst/>
          </a:prstGeom>
        </p:spPr>
      </p:pic>
      <p:sp>
        <p:nvSpPr>
          <p:cNvPr id="27" name="Text 21"/>
          <p:cNvSpPr txBox="1"/>
          <p:nvPr/>
        </p:nvSpPr>
        <p:spPr>
          <a:xfrm>
            <a:off x="1316736" y="3511296"/>
            <a:ext cx="32781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Pró-Ativos  ·  dados manuais</a:t>
            </a:r>
            <a:endParaRPr lang="en-US" sz="1200" dirty="0"/>
          </a:p>
        </p:txBody>
      </p:sp>
      <p:sp>
        <p:nvSpPr>
          <p:cNvPr id="28" name="Shape 22"/>
          <p:cNvSpPr/>
          <p:nvPr/>
        </p:nvSpPr>
        <p:spPr>
          <a:xfrm>
            <a:off x="4622292" y="3547872"/>
            <a:ext cx="1097280" cy="237744"/>
          </a:xfrm>
          <a:prstGeom prst="roundRect">
            <a:avLst>
              <a:gd name="adj" fmla="val 23077"/>
            </a:avLst>
          </a:prstGeom>
          <a:solidFill>
            <a:srgbClr val="FFFFFF">
              <a:alpha val="12000"/>
            </a:srgbClr>
          </a:solidFill>
          <a:ln w="9525">
            <a:solidFill>
              <a:srgbClr val="E9A13B">
                <a:alpha val="50000"/>
              </a:srgbClr>
            </a:solidFill>
            <a:prstDash val="solid"/>
          </a:ln>
        </p:spPr>
      </p:sp>
      <p:sp>
        <p:nvSpPr>
          <p:cNvPr id="29" name="Text 23"/>
          <p:cNvSpPr txBox="1"/>
          <p:nvPr/>
        </p:nvSpPr>
        <p:spPr>
          <a:xfrm>
            <a:off x="4622292" y="3547872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spc="5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13/10</a:t>
            </a:r>
            <a:endParaRPr lang="en-US" sz="750" dirty="0"/>
          </a:p>
        </p:txBody>
      </p:sp>
      <p:sp>
        <p:nvSpPr>
          <p:cNvPr id="30" name="Text 24"/>
          <p:cNvSpPr txBox="1"/>
          <p:nvPr/>
        </p:nvSpPr>
        <p:spPr>
          <a:xfrm>
            <a:off x="841248" y="3895344"/>
            <a:ext cx="48783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D8E4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Will aprofunda na carteira, analisa as planilhas do Deyvid e desenha o processo de acompanhamento, com visão de catálogo.</a:t>
            </a:r>
            <a:endParaRPr lang="en-US" sz="950" dirty="0"/>
          </a:p>
        </p:txBody>
      </p:sp>
      <p:sp>
        <p:nvSpPr>
          <p:cNvPr id="31" name="Shape 25"/>
          <p:cNvSpPr/>
          <p:nvPr/>
        </p:nvSpPr>
        <p:spPr>
          <a:xfrm>
            <a:off x="6195060" y="3291840"/>
            <a:ext cx="5426964" cy="1188720"/>
          </a:xfrm>
          <a:prstGeom prst="roundRect">
            <a:avLst>
              <a:gd name="adj" fmla="val 8462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31507F"/>
            </a:solidFill>
            <a:prstDash val="solid"/>
          </a:ln>
        </p:spPr>
      </p:sp>
      <p:sp>
        <p:nvSpPr>
          <p:cNvPr id="32" name="Shape 26"/>
          <p:cNvSpPr/>
          <p:nvPr/>
        </p:nvSpPr>
        <p:spPr>
          <a:xfrm>
            <a:off x="6469380" y="3529584"/>
            <a:ext cx="365760" cy="365760"/>
          </a:xfrm>
          <a:prstGeom prst="ellipse">
            <a:avLst/>
          </a:prstGeom>
          <a:solidFill>
            <a:srgbClr val="E9A13B"/>
          </a:solidFill>
          <a:ln/>
        </p:spPr>
      </p:sp>
      <p:pic>
        <p:nvPicPr>
          <p:cNvPr id="3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60820" y="3621024"/>
            <a:ext cx="182880" cy="182880"/>
          </a:xfrm>
          <a:prstGeom prst="rect">
            <a:avLst/>
          </a:prstGeom>
        </p:spPr>
      </p:pic>
      <p:sp>
        <p:nvSpPr>
          <p:cNvPr id="34" name="Text 27"/>
          <p:cNvSpPr txBox="1"/>
          <p:nvPr/>
        </p:nvSpPr>
        <p:spPr>
          <a:xfrm>
            <a:off x="6944868" y="3511296"/>
            <a:ext cx="32781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Onboarding  ·  dados manuais</a:t>
            </a:r>
            <a:endParaRPr lang="en-US" sz="1200" dirty="0"/>
          </a:p>
        </p:txBody>
      </p:sp>
      <p:sp>
        <p:nvSpPr>
          <p:cNvPr id="35" name="Shape 28"/>
          <p:cNvSpPr/>
          <p:nvPr/>
        </p:nvSpPr>
        <p:spPr>
          <a:xfrm>
            <a:off x="10250424" y="3547872"/>
            <a:ext cx="1097280" cy="237744"/>
          </a:xfrm>
          <a:prstGeom prst="roundRect">
            <a:avLst>
              <a:gd name="adj" fmla="val 23077"/>
            </a:avLst>
          </a:prstGeom>
          <a:solidFill>
            <a:srgbClr val="FFFFFF">
              <a:alpha val="12000"/>
            </a:srgbClr>
          </a:solidFill>
          <a:ln w="9525">
            <a:solidFill>
              <a:srgbClr val="E9A13B">
                <a:alpha val="50000"/>
              </a:srgbClr>
            </a:solidFill>
            <a:prstDash val="solid"/>
          </a:ln>
        </p:spPr>
      </p:sp>
      <p:sp>
        <p:nvSpPr>
          <p:cNvPr id="36" name="Text 29"/>
          <p:cNvSpPr txBox="1"/>
          <p:nvPr/>
        </p:nvSpPr>
        <p:spPr>
          <a:xfrm>
            <a:off x="10250424" y="3547872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spc="5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13/10</a:t>
            </a:r>
            <a:endParaRPr lang="en-US" sz="750" dirty="0"/>
          </a:p>
        </p:txBody>
      </p:sp>
      <p:sp>
        <p:nvSpPr>
          <p:cNvPr id="37" name="Text 30"/>
          <p:cNvSpPr txBox="1"/>
          <p:nvPr/>
        </p:nvSpPr>
        <p:spPr>
          <a:xfrm>
            <a:off x="6469380" y="3895344"/>
            <a:ext cx="48783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D8E4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Mapeamento com a Andressa e desenho do fluxo com operações para controlar o preenchimento da planilha pelos agentes.</a:t>
            </a:r>
            <a:endParaRPr lang="en-US" sz="950" dirty="0"/>
          </a:p>
        </p:txBody>
      </p:sp>
      <p:sp>
        <p:nvSpPr>
          <p:cNvPr id="38" name="Shape 31"/>
          <p:cNvSpPr/>
          <p:nvPr/>
        </p:nvSpPr>
        <p:spPr>
          <a:xfrm>
            <a:off x="566928" y="4681728"/>
            <a:ext cx="5426964" cy="1188720"/>
          </a:xfrm>
          <a:prstGeom prst="roundRect">
            <a:avLst>
              <a:gd name="adj" fmla="val 8462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31507F"/>
            </a:solidFill>
            <a:prstDash val="solid"/>
          </a:ln>
        </p:spPr>
      </p:sp>
      <p:sp>
        <p:nvSpPr>
          <p:cNvPr id="39" name="Shape 32"/>
          <p:cNvSpPr/>
          <p:nvPr/>
        </p:nvSpPr>
        <p:spPr>
          <a:xfrm>
            <a:off x="841248" y="4919472"/>
            <a:ext cx="365760" cy="365760"/>
          </a:xfrm>
          <a:prstGeom prst="ellipse">
            <a:avLst/>
          </a:prstGeom>
          <a:solidFill>
            <a:srgbClr val="E9A13B"/>
          </a:solidFill>
          <a:ln/>
        </p:spPr>
      </p:sp>
      <p:pic>
        <p:nvPicPr>
          <p:cNvPr id="4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32688" y="5010912"/>
            <a:ext cx="182880" cy="182880"/>
          </a:xfrm>
          <a:prstGeom prst="rect">
            <a:avLst/>
          </a:prstGeom>
        </p:spPr>
      </p:pic>
      <p:sp>
        <p:nvSpPr>
          <p:cNvPr id="41" name="Text 33"/>
          <p:cNvSpPr txBox="1"/>
          <p:nvPr/>
        </p:nvSpPr>
        <p:spPr>
          <a:xfrm>
            <a:off x="1316736" y="4901184"/>
            <a:ext cx="32781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Demanda de catálogo  ·  CRM</a:t>
            </a:r>
            <a:endParaRPr lang="en-US" sz="1200" dirty="0"/>
          </a:p>
        </p:txBody>
      </p:sp>
      <p:sp>
        <p:nvSpPr>
          <p:cNvPr id="42" name="Shape 34"/>
          <p:cNvSpPr/>
          <p:nvPr/>
        </p:nvSpPr>
        <p:spPr>
          <a:xfrm>
            <a:off x="4622292" y="4937760"/>
            <a:ext cx="1097280" cy="237744"/>
          </a:xfrm>
          <a:prstGeom prst="roundRect">
            <a:avLst>
              <a:gd name="adj" fmla="val 23077"/>
            </a:avLst>
          </a:prstGeom>
          <a:solidFill>
            <a:srgbClr val="FFFFFF">
              <a:alpha val="12000"/>
            </a:srgbClr>
          </a:solidFill>
          <a:ln w="9525">
            <a:solidFill>
              <a:srgbClr val="E9A13B">
                <a:alpha val="50000"/>
              </a:srgbClr>
            </a:solidFill>
            <a:prstDash val="solid"/>
          </a:ln>
        </p:spPr>
      </p:sp>
      <p:sp>
        <p:nvSpPr>
          <p:cNvPr id="43" name="Text 35"/>
          <p:cNvSpPr txBox="1"/>
          <p:nvPr/>
        </p:nvSpPr>
        <p:spPr>
          <a:xfrm>
            <a:off x="4622292" y="4937760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spc="5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ESTUDO</a:t>
            </a:r>
            <a:endParaRPr lang="en-US" sz="750" dirty="0"/>
          </a:p>
        </p:txBody>
      </p:sp>
      <p:sp>
        <p:nvSpPr>
          <p:cNvPr id="44" name="Text 36"/>
          <p:cNvSpPr txBox="1"/>
          <p:nvPr/>
        </p:nvSpPr>
        <p:spPr>
          <a:xfrm>
            <a:off x="841248" y="5285232"/>
            <a:ext cx="48783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D8E4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Extração da base, separação por vendor e definição da prioridade de tratativa.</a:t>
            </a:r>
            <a:endParaRPr lang="en-US" sz="950" dirty="0"/>
          </a:p>
        </p:txBody>
      </p:sp>
      <p:sp>
        <p:nvSpPr>
          <p:cNvPr id="45" name="Shape 37"/>
          <p:cNvSpPr/>
          <p:nvPr/>
        </p:nvSpPr>
        <p:spPr>
          <a:xfrm>
            <a:off x="6195060" y="4681728"/>
            <a:ext cx="5426964" cy="1188720"/>
          </a:xfrm>
          <a:prstGeom prst="roundRect">
            <a:avLst>
              <a:gd name="adj" fmla="val 8462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31507F"/>
            </a:solidFill>
            <a:prstDash val="solid"/>
          </a:ln>
        </p:spPr>
      </p:sp>
      <p:sp>
        <p:nvSpPr>
          <p:cNvPr id="46" name="Shape 38"/>
          <p:cNvSpPr/>
          <p:nvPr/>
        </p:nvSpPr>
        <p:spPr>
          <a:xfrm>
            <a:off x="6469380" y="4919472"/>
            <a:ext cx="365760" cy="365760"/>
          </a:xfrm>
          <a:prstGeom prst="ellipse">
            <a:avLst/>
          </a:prstGeom>
          <a:solidFill>
            <a:srgbClr val="E9A13B"/>
          </a:solidFill>
          <a:ln/>
        </p:spPr>
      </p:sp>
      <p:pic>
        <p:nvPicPr>
          <p:cNvPr id="47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60820" y="5010912"/>
            <a:ext cx="182880" cy="182880"/>
          </a:xfrm>
          <a:prstGeom prst="rect">
            <a:avLst/>
          </a:prstGeom>
        </p:spPr>
      </p:pic>
      <p:sp>
        <p:nvSpPr>
          <p:cNvPr id="48" name="Text 39"/>
          <p:cNvSpPr txBox="1"/>
          <p:nvPr/>
        </p:nvSpPr>
        <p:spPr>
          <a:xfrm>
            <a:off x="6944868" y="4901184"/>
            <a:ext cx="32781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KPIs por frente de atuação + aging</a:t>
            </a:r>
            <a:endParaRPr lang="en-US" sz="1200" dirty="0"/>
          </a:p>
        </p:txBody>
      </p:sp>
      <p:sp>
        <p:nvSpPr>
          <p:cNvPr id="49" name="Shape 40"/>
          <p:cNvSpPr/>
          <p:nvPr/>
        </p:nvSpPr>
        <p:spPr>
          <a:xfrm>
            <a:off x="10250424" y="4937760"/>
            <a:ext cx="1097280" cy="237744"/>
          </a:xfrm>
          <a:prstGeom prst="roundRect">
            <a:avLst>
              <a:gd name="adj" fmla="val 23077"/>
            </a:avLst>
          </a:prstGeom>
          <a:solidFill>
            <a:srgbClr val="FFFFFF">
              <a:alpha val="12000"/>
            </a:srgbClr>
          </a:solidFill>
          <a:ln w="9525">
            <a:solidFill>
              <a:srgbClr val="E9A13B">
                <a:alpha val="50000"/>
              </a:srgbClr>
            </a:solidFill>
            <a:prstDash val="solid"/>
          </a:ln>
        </p:spPr>
      </p:sp>
      <p:sp>
        <p:nvSpPr>
          <p:cNvPr id="50" name="Text 41"/>
          <p:cNvSpPr txBox="1"/>
          <p:nvPr/>
        </p:nvSpPr>
        <p:spPr>
          <a:xfrm>
            <a:off x="10250424" y="4937760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spc="5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13/10  ·  09/10</a:t>
            </a:r>
            <a:endParaRPr lang="en-US" sz="750" dirty="0"/>
          </a:p>
        </p:txBody>
      </p:sp>
      <p:sp>
        <p:nvSpPr>
          <p:cNvPr id="51" name="Text 42"/>
          <p:cNvSpPr txBox="1"/>
          <p:nvPr/>
        </p:nvSpPr>
        <p:spPr>
          <a:xfrm>
            <a:off x="6469380" y="5285232"/>
            <a:ext cx="48783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D8E4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Análise por frente, não consolidada, com foco no aging de 5 dias sem atuação. Visão de frentes a desenvolver; aging já construído, aguarda EXT para validar.</a:t>
            </a:r>
            <a:endParaRPr lang="en-US" sz="950" dirty="0"/>
          </a:p>
        </p:txBody>
      </p:sp>
      <p:sp>
        <p:nvSpPr>
          <p:cNvPr id="52" name="Shape 43"/>
          <p:cNvSpPr/>
          <p:nvPr/>
        </p:nvSpPr>
        <p:spPr>
          <a:xfrm>
            <a:off x="566928" y="6108192"/>
            <a:ext cx="11055096" cy="658368"/>
          </a:xfrm>
          <a:prstGeom prst="roundRect">
            <a:avLst>
              <a:gd name="adj" fmla="val 12500"/>
            </a:avLst>
          </a:prstGeom>
          <a:solidFill>
            <a:srgbClr val="FFFFFF">
              <a:alpha val="6000"/>
            </a:srgbClr>
          </a:solidFill>
          <a:ln w="12700">
            <a:solidFill>
              <a:srgbClr val="31507F"/>
            </a:solidFill>
            <a:prstDash val="solid"/>
          </a:ln>
        </p:spPr>
      </p:sp>
      <p:sp>
        <p:nvSpPr>
          <p:cNvPr id="53" name="Text 44"/>
          <p:cNvSpPr txBox="1"/>
          <p:nvPr/>
        </p:nvSpPr>
        <p:spPr>
          <a:xfrm>
            <a:off x="932688" y="6108192"/>
            <a:ext cx="1032357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3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ESCOPO DAS FRENTES        </a:t>
            </a:r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N4   </a:t>
            </a:r>
            <a:pPr indent="0" marL="0">
              <a:buNone/>
            </a:pPr>
            <a:r>
              <a:rPr lang="en-US" sz="1100" dirty="0">
                <a:solidFill>
                  <a:srgbClr val="D8E4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Full, Inbound e P2P          </a:t>
            </a:r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N5   </a:t>
            </a:r>
            <a:pPr indent="0" marL="0">
              <a:buNone/>
            </a:pPr>
            <a:r>
              <a:rPr lang="en-US" sz="1100" dirty="0">
                <a:solidFill>
                  <a:srgbClr val="D8E4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Onboarding (2 frentes) e Pró-Ativos (9 frentes)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220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66928" y="45720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spc="28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PMO   ·   EVOLUÇÕES DO DASHBOARD</a:t>
            </a:r>
            <a:endParaRPr lang="en-US" sz="1150" dirty="0"/>
          </a:p>
        </p:txBody>
      </p:sp>
      <p:sp>
        <p:nvSpPr>
          <p:cNvPr id="4" name="Text 1"/>
          <p:cNvSpPr txBox="1"/>
          <p:nvPr/>
        </p:nvSpPr>
        <p:spPr>
          <a:xfrm>
            <a:off x="566928" y="77724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já foi entregue</a:t>
            </a:r>
            <a:endParaRPr lang="en-US" sz="2800" dirty="0"/>
          </a:p>
        </p:txBody>
      </p:sp>
      <p:sp>
        <p:nvSpPr>
          <p:cNvPr id="5" name="Text 2"/>
          <p:cNvSpPr txBox="1"/>
          <p:nvPr/>
        </p:nvSpPr>
        <p:spPr>
          <a:xfrm>
            <a:off x="566928" y="13533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D8E4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melhorias pedidas no alinhamento — 7 entregues, 2 validadas em conceito e 1 em andamento.</a:t>
            </a:r>
            <a:endParaRPr lang="en-US" sz="1300" dirty="0"/>
          </a:p>
        </p:txBody>
      </p:sp>
      <p:sp>
        <p:nvSpPr>
          <p:cNvPr id="6" name="Shape 3"/>
          <p:cNvSpPr/>
          <p:nvPr/>
        </p:nvSpPr>
        <p:spPr>
          <a:xfrm>
            <a:off x="8650224" y="457200"/>
            <a:ext cx="2971800" cy="914400"/>
          </a:xfrm>
          <a:prstGeom prst="roundRect">
            <a:avLst>
              <a:gd name="adj" fmla="val 10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31507F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924544" y="612648"/>
            <a:ext cx="2423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140" kern="0" dirty="0">
                <a:solidFill>
                  <a:srgbClr val="93A9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MELHORIAS</a:t>
            </a:r>
            <a:endParaRPr lang="en-US" sz="900" dirty="0"/>
          </a:p>
        </p:txBody>
      </p:sp>
      <p:sp>
        <p:nvSpPr>
          <p:cNvPr id="8" name="Text 5"/>
          <p:cNvSpPr txBox="1"/>
          <p:nvPr/>
        </p:nvSpPr>
        <p:spPr>
          <a:xfrm>
            <a:off x="8924544" y="804672"/>
            <a:ext cx="2423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9A1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</a:t>
            </a:r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de 10 concluídas</a:t>
            </a:r>
            <a:endParaRPr lang="en-US" sz="2000" dirty="0"/>
          </a:p>
        </p:txBody>
      </p:sp>
      <p:sp>
        <p:nvSpPr>
          <p:cNvPr id="9" name="Shape 6"/>
          <p:cNvSpPr/>
          <p:nvPr/>
        </p:nvSpPr>
        <p:spPr>
          <a:xfrm>
            <a:off x="8924544" y="1152144"/>
            <a:ext cx="2423160" cy="91440"/>
          </a:xfrm>
          <a:prstGeom prst="roundRect">
            <a:avLst>
              <a:gd name="adj" fmla="val 50000"/>
            </a:avLst>
          </a:prstGeom>
          <a:solidFill>
            <a:srgbClr val="FFFFFF">
              <a:alpha val="20000"/>
            </a:srgbClr>
          </a:solidFill>
          <a:ln w="635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8924544" y="1152144"/>
            <a:ext cx="2180844" cy="91440"/>
          </a:xfrm>
          <a:prstGeom prst="roundRect">
            <a:avLst>
              <a:gd name="adj" fmla="val 50000"/>
            </a:avLst>
          </a:prstGeom>
          <a:solidFill>
            <a:srgbClr val="E9A13B"/>
          </a:solidFill>
          <a:ln/>
        </p:spPr>
      </p:sp>
      <p:sp>
        <p:nvSpPr>
          <p:cNvPr id="11" name="Shape 8"/>
          <p:cNvSpPr/>
          <p:nvPr/>
        </p:nvSpPr>
        <p:spPr>
          <a:xfrm>
            <a:off x="566928" y="1938528"/>
            <a:ext cx="5426964" cy="676656"/>
          </a:xfrm>
          <a:prstGeom prst="roundRect">
            <a:avLst>
              <a:gd name="adj" fmla="val 10811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E9A13B">
                <a:alpha val="60000"/>
              </a:srgbClr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822960" y="2130552"/>
            <a:ext cx="292608" cy="292608"/>
          </a:xfrm>
          <a:prstGeom prst="ellipse">
            <a:avLst/>
          </a:prstGeom>
          <a:solidFill>
            <a:srgbClr val="E9A13B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1540" y="2199132"/>
            <a:ext cx="155448" cy="155448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1225296" y="2066544"/>
            <a:ext cx="34152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Volumetria de casos fechados por hora</a:t>
            </a:r>
            <a:endParaRPr lang="en-US" sz="1150" dirty="0"/>
          </a:p>
        </p:txBody>
      </p:sp>
      <p:sp>
        <p:nvSpPr>
          <p:cNvPr id="15" name="Text 11"/>
          <p:cNvSpPr txBox="1"/>
          <p:nvPr/>
        </p:nvSpPr>
        <p:spPr>
          <a:xfrm>
            <a:off x="1225296" y="2304288"/>
            <a:ext cx="34152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9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 evolução dia a dia</a:t>
            </a:r>
            <a:endParaRPr lang="en-US" sz="900" dirty="0"/>
          </a:p>
        </p:txBody>
      </p:sp>
      <p:sp>
        <p:nvSpPr>
          <p:cNvPr id="16" name="Shape 12"/>
          <p:cNvSpPr/>
          <p:nvPr/>
        </p:nvSpPr>
        <p:spPr>
          <a:xfrm>
            <a:off x="4594860" y="2157984"/>
            <a:ext cx="1143000" cy="237744"/>
          </a:xfrm>
          <a:prstGeom prst="roundRect">
            <a:avLst>
              <a:gd name="adj" fmla="val 23077"/>
            </a:avLst>
          </a:prstGeom>
          <a:solidFill>
            <a:srgbClr val="E9A13B"/>
          </a:solidFill>
          <a:ln w="9525">
            <a:solidFill>
              <a:srgbClr val="E9A13B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4594860" y="2157984"/>
            <a:ext cx="1143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spc="50" kern="0" dirty="0">
                <a:solidFill>
                  <a:srgbClr val="1627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ENTREGUE</a:t>
            </a:r>
            <a:endParaRPr lang="en-US" sz="750" dirty="0"/>
          </a:p>
        </p:txBody>
      </p:sp>
      <p:sp>
        <p:nvSpPr>
          <p:cNvPr id="18" name="Shape 14"/>
          <p:cNvSpPr/>
          <p:nvPr/>
        </p:nvSpPr>
        <p:spPr>
          <a:xfrm>
            <a:off x="566928" y="2724912"/>
            <a:ext cx="5426964" cy="676656"/>
          </a:xfrm>
          <a:prstGeom prst="roundRect">
            <a:avLst>
              <a:gd name="adj" fmla="val 10811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E9A13B">
                <a:alpha val="60000"/>
              </a:srgbClr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822960" y="2916936"/>
            <a:ext cx="292608" cy="292608"/>
          </a:xfrm>
          <a:prstGeom prst="ellipse">
            <a:avLst/>
          </a:prstGeom>
          <a:solidFill>
            <a:srgbClr val="E9A13B"/>
          </a:solidFill>
          <a:ln/>
        </p:spPr>
      </p:sp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1540" y="2985516"/>
            <a:ext cx="155448" cy="155448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1225296" y="2724912"/>
            <a:ext cx="3415284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Volumetria e % de casos fechados por célula</a:t>
            </a:r>
            <a:endParaRPr lang="en-US" sz="1150" dirty="0"/>
          </a:p>
        </p:txBody>
      </p:sp>
      <p:sp>
        <p:nvSpPr>
          <p:cNvPr id="22" name="Shape 17"/>
          <p:cNvSpPr/>
          <p:nvPr/>
        </p:nvSpPr>
        <p:spPr>
          <a:xfrm>
            <a:off x="4594860" y="2944368"/>
            <a:ext cx="1143000" cy="237744"/>
          </a:xfrm>
          <a:prstGeom prst="roundRect">
            <a:avLst>
              <a:gd name="adj" fmla="val 23077"/>
            </a:avLst>
          </a:prstGeom>
          <a:solidFill>
            <a:srgbClr val="E9A13B"/>
          </a:solidFill>
          <a:ln w="9525">
            <a:solidFill>
              <a:srgbClr val="E9A13B"/>
            </a:solidFill>
            <a:prstDash val="solid"/>
          </a:ln>
        </p:spPr>
      </p:sp>
      <p:sp>
        <p:nvSpPr>
          <p:cNvPr id="23" name="Text 18"/>
          <p:cNvSpPr txBox="1"/>
          <p:nvPr/>
        </p:nvSpPr>
        <p:spPr>
          <a:xfrm>
            <a:off x="4594860" y="2944368"/>
            <a:ext cx="1143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spc="50" kern="0" dirty="0">
                <a:solidFill>
                  <a:srgbClr val="1627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ENTREGUE</a:t>
            </a:r>
            <a:endParaRPr lang="en-US" sz="750" dirty="0"/>
          </a:p>
        </p:txBody>
      </p:sp>
      <p:sp>
        <p:nvSpPr>
          <p:cNvPr id="24" name="Shape 19"/>
          <p:cNvSpPr/>
          <p:nvPr/>
        </p:nvSpPr>
        <p:spPr>
          <a:xfrm>
            <a:off x="566928" y="3511296"/>
            <a:ext cx="5426964" cy="676656"/>
          </a:xfrm>
          <a:prstGeom prst="roundRect">
            <a:avLst>
              <a:gd name="adj" fmla="val 10811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E9A13B">
                <a:alpha val="60000"/>
              </a:srgbClr>
            </a:solidFill>
            <a:prstDash val="solid"/>
          </a:ln>
        </p:spPr>
      </p:sp>
      <p:sp>
        <p:nvSpPr>
          <p:cNvPr id="25" name="Shape 20"/>
          <p:cNvSpPr/>
          <p:nvPr/>
        </p:nvSpPr>
        <p:spPr>
          <a:xfrm>
            <a:off x="822960" y="3703320"/>
            <a:ext cx="292608" cy="292608"/>
          </a:xfrm>
          <a:prstGeom prst="ellipse">
            <a:avLst/>
          </a:prstGeom>
          <a:solidFill>
            <a:srgbClr val="E9A13B"/>
          </a:solidFill>
          <a:ln/>
        </p:spPr>
      </p:sp>
      <p:pic>
        <p:nvPicPr>
          <p:cNvPr id="2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1540" y="3771900"/>
            <a:ext cx="155448" cy="155448"/>
          </a:xfrm>
          <a:prstGeom prst="rect">
            <a:avLst/>
          </a:prstGeom>
        </p:spPr>
      </p:pic>
      <p:sp>
        <p:nvSpPr>
          <p:cNvPr id="27" name="Text 21"/>
          <p:cNvSpPr txBox="1"/>
          <p:nvPr/>
        </p:nvSpPr>
        <p:spPr>
          <a:xfrm>
            <a:off x="1225296" y="3639312"/>
            <a:ext cx="34152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Todos os status dos tickets</a:t>
            </a:r>
            <a:endParaRPr lang="en-US" sz="1150" dirty="0"/>
          </a:p>
        </p:txBody>
      </p:sp>
      <p:sp>
        <p:nvSpPr>
          <p:cNvPr id="28" name="Text 22"/>
          <p:cNvSpPr txBox="1"/>
          <p:nvPr/>
        </p:nvSpPr>
        <p:spPr>
          <a:xfrm>
            <a:off x="1225296" y="3877056"/>
            <a:ext cx="34152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9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além do que foi fechado</a:t>
            </a:r>
            <a:endParaRPr lang="en-US" sz="900" dirty="0"/>
          </a:p>
        </p:txBody>
      </p:sp>
      <p:sp>
        <p:nvSpPr>
          <p:cNvPr id="29" name="Shape 23"/>
          <p:cNvSpPr/>
          <p:nvPr/>
        </p:nvSpPr>
        <p:spPr>
          <a:xfrm>
            <a:off x="4594860" y="3730752"/>
            <a:ext cx="1143000" cy="237744"/>
          </a:xfrm>
          <a:prstGeom prst="roundRect">
            <a:avLst>
              <a:gd name="adj" fmla="val 23077"/>
            </a:avLst>
          </a:prstGeom>
          <a:solidFill>
            <a:srgbClr val="E9A13B"/>
          </a:solidFill>
          <a:ln w="9525">
            <a:solidFill>
              <a:srgbClr val="E9A13B"/>
            </a:solidFill>
            <a:prstDash val="solid"/>
          </a:ln>
        </p:spPr>
      </p:sp>
      <p:sp>
        <p:nvSpPr>
          <p:cNvPr id="30" name="Text 24"/>
          <p:cNvSpPr txBox="1"/>
          <p:nvPr/>
        </p:nvSpPr>
        <p:spPr>
          <a:xfrm>
            <a:off x="4594860" y="3730752"/>
            <a:ext cx="1143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spc="50" kern="0" dirty="0">
                <a:solidFill>
                  <a:srgbClr val="1627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ENTREGUE</a:t>
            </a:r>
            <a:endParaRPr lang="en-US" sz="750" dirty="0"/>
          </a:p>
        </p:txBody>
      </p:sp>
      <p:sp>
        <p:nvSpPr>
          <p:cNvPr id="31" name="Shape 25"/>
          <p:cNvSpPr/>
          <p:nvPr/>
        </p:nvSpPr>
        <p:spPr>
          <a:xfrm>
            <a:off x="566928" y="4297680"/>
            <a:ext cx="5426964" cy="676656"/>
          </a:xfrm>
          <a:prstGeom prst="roundRect">
            <a:avLst>
              <a:gd name="adj" fmla="val 10811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E9A13B">
                <a:alpha val="60000"/>
              </a:srgbClr>
            </a:solidFill>
            <a:prstDash val="solid"/>
          </a:ln>
        </p:spPr>
      </p:sp>
      <p:sp>
        <p:nvSpPr>
          <p:cNvPr id="32" name="Shape 26"/>
          <p:cNvSpPr/>
          <p:nvPr/>
        </p:nvSpPr>
        <p:spPr>
          <a:xfrm>
            <a:off x="822960" y="4489704"/>
            <a:ext cx="292608" cy="292608"/>
          </a:xfrm>
          <a:prstGeom prst="ellipse">
            <a:avLst/>
          </a:prstGeom>
          <a:solidFill>
            <a:srgbClr val="E9A13B"/>
          </a:solidFill>
          <a:ln/>
        </p:spPr>
      </p:sp>
      <p:pic>
        <p:nvPicPr>
          <p:cNvPr id="3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1540" y="4558284"/>
            <a:ext cx="155448" cy="155448"/>
          </a:xfrm>
          <a:prstGeom prst="rect">
            <a:avLst/>
          </a:prstGeom>
        </p:spPr>
      </p:pic>
      <p:sp>
        <p:nvSpPr>
          <p:cNvPr id="34" name="Text 27"/>
          <p:cNvSpPr txBox="1"/>
          <p:nvPr/>
        </p:nvSpPr>
        <p:spPr>
          <a:xfrm>
            <a:off x="1225296" y="4425696"/>
            <a:ext cx="34152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Visão online de N4</a:t>
            </a:r>
            <a:endParaRPr lang="en-US" sz="1150" dirty="0"/>
          </a:p>
        </p:txBody>
      </p:sp>
      <p:sp>
        <p:nvSpPr>
          <p:cNvPr id="35" name="Text 28"/>
          <p:cNvSpPr txBox="1"/>
          <p:nvPr/>
        </p:nvSpPr>
        <p:spPr>
          <a:xfrm>
            <a:off x="1225296" y="4663440"/>
            <a:ext cx="34152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9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 acesso do Plan no CXOne</a:t>
            </a:r>
            <a:endParaRPr lang="en-US" sz="900" dirty="0"/>
          </a:p>
        </p:txBody>
      </p:sp>
      <p:sp>
        <p:nvSpPr>
          <p:cNvPr id="36" name="Shape 29"/>
          <p:cNvSpPr/>
          <p:nvPr/>
        </p:nvSpPr>
        <p:spPr>
          <a:xfrm>
            <a:off x="4594860" y="4517136"/>
            <a:ext cx="1143000" cy="237744"/>
          </a:xfrm>
          <a:prstGeom prst="roundRect">
            <a:avLst>
              <a:gd name="adj" fmla="val 23077"/>
            </a:avLst>
          </a:prstGeom>
          <a:solidFill>
            <a:srgbClr val="E9A13B"/>
          </a:solidFill>
          <a:ln w="9525">
            <a:solidFill>
              <a:srgbClr val="E9A13B"/>
            </a:solidFill>
            <a:prstDash val="solid"/>
          </a:ln>
        </p:spPr>
      </p:sp>
      <p:sp>
        <p:nvSpPr>
          <p:cNvPr id="37" name="Text 30"/>
          <p:cNvSpPr txBox="1"/>
          <p:nvPr/>
        </p:nvSpPr>
        <p:spPr>
          <a:xfrm>
            <a:off x="4594860" y="4517136"/>
            <a:ext cx="1143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spc="50" kern="0" dirty="0">
                <a:solidFill>
                  <a:srgbClr val="1627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ENTREGUE</a:t>
            </a:r>
            <a:endParaRPr lang="en-US" sz="750" dirty="0"/>
          </a:p>
        </p:txBody>
      </p:sp>
      <p:sp>
        <p:nvSpPr>
          <p:cNvPr id="38" name="Shape 31"/>
          <p:cNvSpPr/>
          <p:nvPr/>
        </p:nvSpPr>
        <p:spPr>
          <a:xfrm>
            <a:off x="566928" y="5084064"/>
            <a:ext cx="5426964" cy="676656"/>
          </a:xfrm>
          <a:prstGeom prst="roundRect">
            <a:avLst>
              <a:gd name="adj" fmla="val 10811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E9A13B">
                <a:alpha val="60000"/>
              </a:srgbClr>
            </a:solidFill>
            <a:prstDash val="solid"/>
          </a:ln>
        </p:spPr>
      </p:sp>
      <p:sp>
        <p:nvSpPr>
          <p:cNvPr id="39" name="Shape 32"/>
          <p:cNvSpPr/>
          <p:nvPr/>
        </p:nvSpPr>
        <p:spPr>
          <a:xfrm>
            <a:off x="822960" y="5276088"/>
            <a:ext cx="292608" cy="292608"/>
          </a:xfrm>
          <a:prstGeom prst="ellipse">
            <a:avLst/>
          </a:prstGeom>
          <a:solidFill>
            <a:srgbClr val="E9A13B"/>
          </a:solidFill>
          <a:ln/>
        </p:spPr>
      </p:sp>
      <p:pic>
        <p:nvPicPr>
          <p:cNvPr id="4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91540" y="5344668"/>
            <a:ext cx="155448" cy="155448"/>
          </a:xfrm>
          <a:prstGeom prst="rect">
            <a:avLst/>
          </a:prstGeom>
        </p:spPr>
      </p:pic>
      <p:sp>
        <p:nvSpPr>
          <p:cNvPr id="41" name="Text 33"/>
          <p:cNvSpPr txBox="1"/>
          <p:nvPr/>
        </p:nvSpPr>
        <p:spPr>
          <a:xfrm>
            <a:off x="1225296" y="5084064"/>
            <a:ext cx="3415284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Abertura por semana e ano</a:t>
            </a:r>
            <a:endParaRPr lang="en-US" sz="1150" dirty="0"/>
          </a:p>
        </p:txBody>
      </p:sp>
      <p:sp>
        <p:nvSpPr>
          <p:cNvPr id="42" name="Shape 34"/>
          <p:cNvSpPr/>
          <p:nvPr/>
        </p:nvSpPr>
        <p:spPr>
          <a:xfrm>
            <a:off x="4594860" y="5303520"/>
            <a:ext cx="1143000" cy="237744"/>
          </a:xfrm>
          <a:prstGeom prst="roundRect">
            <a:avLst>
              <a:gd name="adj" fmla="val 23077"/>
            </a:avLst>
          </a:prstGeom>
          <a:solidFill>
            <a:srgbClr val="E9A13B"/>
          </a:solidFill>
          <a:ln w="9525">
            <a:solidFill>
              <a:srgbClr val="E9A13B"/>
            </a:solidFill>
            <a:prstDash val="solid"/>
          </a:ln>
        </p:spPr>
      </p:sp>
      <p:sp>
        <p:nvSpPr>
          <p:cNvPr id="43" name="Text 35"/>
          <p:cNvSpPr txBox="1"/>
          <p:nvPr/>
        </p:nvSpPr>
        <p:spPr>
          <a:xfrm>
            <a:off x="4594860" y="5303520"/>
            <a:ext cx="1143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spc="50" kern="0" dirty="0">
                <a:solidFill>
                  <a:srgbClr val="1627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ENTREGUE</a:t>
            </a:r>
            <a:endParaRPr lang="en-US" sz="750" dirty="0"/>
          </a:p>
        </p:txBody>
      </p:sp>
      <p:sp>
        <p:nvSpPr>
          <p:cNvPr id="44" name="Shape 36"/>
          <p:cNvSpPr/>
          <p:nvPr/>
        </p:nvSpPr>
        <p:spPr>
          <a:xfrm>
            <a:off x="6195060" y="1938528"/>
            <a:ext cx="5426964" cy="676656"/>
          </a:xfrm>
          <a:prstGeom prst="roundRect">
            <a:avLst>
              <a:gd name="adj" fmla="val 10811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E9A13B">
                <a:alpha val="60000"/>
              </a:srgbClr>
            </a:solidFill>
            <a:prstDash val="solid"/>
          </a:ln>
        </p:spPr>
      </p:sp>
      <p:sp>
        <p:nvSpPr>
          <p:cNvPr id="45" name="Shape 37"/>
          <p:cNvSpPr/>
          <p:nvPr/>
        </p:nvSpPr>
        <p:spPr>
          <a:xfrm>
            <a:off x="6451092" y="2130552"/>
            <a:ext cx="292608" cy="292608"/>
          </a:xfrm>
          <a:prstGeom prst="ellipse">
            <a:avLst/>
          </a:prstGeom>
          <a:solidFill>
            <a:srgbClr val="E9A13B"/>
          </a:solidFill>
          <a:ln/>
        </p:spPr>
      </p:sp>
      <p:pic>
        <p:nvPicPr>
          <p:cNvPr id="46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19672" y="2199132"/>
            <a:ext cx="155448" cy="155448"/>
          </a:xfrm>
          <a:prstGeom prst="rect">
            <a:avLst/>
          </a:prstGeom>
        </p:spPr>
      </p:pic>
      <p:sp>
        <p:nvSpPr>
          <p:cNvPr id="47" name="Text 38"/>
          <p:cNvSpPr txBox="1"/>
          <p:nvPr/>
        </p:nvSpPr>
        <p:spPr>
          <a:xfrm>
            <a:off x="6853428" y="1938528"/>
            <a:ext cx="3415284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Visão de tabulação dos casos tratados</a:t>
            </a:r>
            <a:endParaRPr lang="en-US" sz="1150" dirty="0"/>
          </a:p>
        </p:txBody>
      </p:sp>
      <p:sp>
        <p:nvSpPr>
          <p:cNvPr id="48" name="Shape 39"/>
          <p:cNvSpPr/>
          <p:nvPr/>
        </p:nvSpPr>
        <p:spPr>
          <a:xfrm>
            <a:off x="10222992" y="2157984"/>
            <a:ext cx="1143000" cy="237744"/>
          </a:xfrm>
          <a:prstGeom prst="roundRect">
            <a:avLst>
              <a:gd name="adj" fmla="val 23077"/>
            </a:avLst>
          </a:prstGeom>
          <a:solidFill>
            <a:srgbClr val="E9A13B"/>
          </a:solidFill>
          <a:ln w="9525">
            <a:solidFill>
              <a:srgbClr val="E9A13B"/>
            </a:solidFill>
            <a:prstDash val="solid"/>
          </a:ln>
        </p:spPr>
      </p:sp>
      <p:sp>
        <p:nvSpPr>
          <p:cNvPr id="49" name="Text 40"/>
          <p:cNvSpPr txBox="1"/>
          <p:nvPr/>
        </p:nvSpPr>
        <p:spPr>
          <a:xfrm>
            <a:off x="10222992" y="2157984"/>
            <a:ext cx="1143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spc="50" kern="0" dirty="0">
                <a:solidFill>
                  <a:srgbClr val="1627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ENTREGUE</a:t>
            </a:r>
            <a:endParaRPr lang="en-US" sz="750" dirty="0"/>
          </a:p>
        </p:txBody>
      </p:sp>
      <p:sp>
        <p:nvSpPr>
          <p:cNvPr id="50" name="Shape 41"/>
          <p:cNvSpPr/>
          <p:nvPr/>
        </p:nvSpPr>
        <p:spPr>
          <a:xfrm>
            <a:off x="6195060" y="2724912"/>
            <a:ext cx="5426964" cy="676656"/>
          </a:xfrm>
          <a:prstGeom prst="roundRect">
            <a:avLst>
              <a:gd name="adj" fmla="val 10811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E9A13B">
                <a:alpha val="60000"/>
              </a:srgbClr>
            </a:solidFill>
            <a:prstDash val="solid"/>
          </a:ln>
        </p:spPr>
      </p:sp>
      <p:sp>
        <p:nvSpPr>
          <p:cNvPr id="51" name="Shape 42"/>
          <p:cNvSpPr/>
          <p:nvPr/>
        </p:nvSpPr>
        <p:spPr>
          <a:xfrm>
            <a:off x="6451092" y="2916936"/>
            <a:ext cx="292608" cy="292608"/>
          </a:xfrm>
          <a:prstGeom prst="ellipse">
            <a:avLst/>
          </a:prstGeom>
          <a:solidFill>
            <a:srgbClr val="E9A13B"/>
          </a:solidFill>
          <a:ln/>
        </p:spPr>
      </p:sp>
      <p:pic>
        <p:nvPicPr>
          <p:cNvPr id="52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519672" y="2985516"/>
            <a:ext cx="155448" cy="155448"/>
          </a:xfrm>
          <a:prstGeom prst="rect">
            <a:avLst/>
          </a:prstGeom>
        </p:spPr>
      </p:pic>
      <p:sp>
        <p:nvSpPr>
          <p:cNvPr id="53" name="Text 43"/>
          <p:cNvSpPr txBox="1"/>
          <p:nvPr/>
        </p:nvSpPr>
        <p:spPr>
          <a:xfrm>
            <a:off x="6853428" y="2852928"/>
            <a:ext cx="34152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TMA e recebimento por categoria</a:t>
            </a:r>
            <a:endParaRPr lang="en-US" sz="1150" dirty="0"/>
          </a:p>
        </p:txBody>
      </p:sp>
      <p:sp>
        <p:nvSpPr>
          <p:cNvPr id="54" name="Text 44"/>
          <p:cNvSpPr txBox="1"/>
          <p:nvPr/>
        </p:nvSpPr>
        <p:spPr>
          <a:xfrm>
            <a:off x="6853428" y="3090672"/>
            <a:ext cx="34152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9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abertos na visão</a:t>
            </a:r>
            <a:endParaRPr lang="en-US" sz="900" dirty="0"/>
          </a:p>
        </p:txBody>
      </p:sp>
      <p:sp>
        <p:nvSpPr>
          <p:cNvPr id="55" name="Shape 45"/>
          <p:cNvSpPr/>
          <p:nvPr/>
        </p:nvSpPr>
        <p:spPr>
          <a:xfrm>
            <a:off x="10222992" y="2944368"/>
            <a:ext cx="1143000" cy="237744"/>
          </a:xfrm>
          <a:prstGeom prst="roundRect">
            <a:avLst>
              <a:gd name="adj" fmla="val 23077"/>
            </a:avLst>
          </a:prstGeom>
          <a:solidFill>
            <a:srgbClr val="E9A13B"/>
          </a:solidFill>
          <a:ln w="9525">
            <a:solidFill>
              <a:srgbClr val="E9A13B"/>
            </a:solidFill>
            <a:prstDash val="solid"/>
          </a:ln>
        </p:spPr>
      </p:sp>
      <p:sp>
        <p:nvSpPr>
          <p:cNvPr id="56" name="Text 46"/>
          <p:cNvSpPr txBox="1"/>
          <p:nvPr/>
        </p:nvSpPr>
        <p:spPr>
          <a:xfrm>
            <a:off x="10222992" y="2944368"/>
            <a:ext cx="1143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spc="50" kern="0" dirty="0">
                <a:solidFill>
                  <a:srgbClr val="1627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ENTREGUE</a:t>
            </a:r>
            <a:endParaRPr lang="en-US" sz="750" dirty="0"/>
          </a:p>
        </p:txBody>
      </p:sp>
      <p:sp>
        <p:nvSpPr>
          <p:cNvPr id="57" name="Shape 47"/>
          <p:cNvSpPr/>
          <p:nvPr/>
        </p:nvSpPr>
        <p:spPr>
          <a:xfrm>
            <a:off x="6195060" y="3511296"/>
            <a:ext cx="5426964" cy="676656"/>
          </a:xfrm>
          <a:prstGeom prst="roundRect">
            <a:avLst>
              <a:gd name="adj" fmla="val 10811"/>
            </a:avLst>
          </a:prstGeom>
          <a:solidFill>
            <a:srgbClr val="FFFFFF">
              <a:alpha val="6000"/>
            </a:srgbClr>
          </a:solidFill>
          <a:ln w="12700">
            <a:solidFill>
              <a:srgbClr val="31507F">
                <a:alpha val="55000"/>
              </a:srgbClr>
            </a:solidFill>
            <a:prstDash val="solid"/>
          </a:ln>
        </p:spPr>
      </p:sp>
      <p:sp>
        <p:nvSpPr>
          <p:cNvPr id="58" name="Shape 48"/>
          <p:cNvSpPr/>
          <p:nvPr/>
        </p:nvSpPr>
        <p:spPr>
          <a:xfrm>
            <a:off x="6451092" y="3703320"/>
            <a:ext cx="292608" cy="292608"/>
          </a:xfrm>
          <a:prstGeom prst="ellipse">
            <a:avLst/>
          </a:prstGeom>
          <a:solidFill>
            <a:srgbClr val="E9A13B">
              <a:alpha val="55000"/>
            </a:srgbClr>
          </a:solidFill>
          <a:ln/>
        </p:spPr>
      </p:sp>
      <p:pic>
        <p:nvPicPr>
          <p:cNvPr id="59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519672" y="3771900"/>
            <a:ext cx="155448" cy="155448"/>
          </a:xfrm>
          <a:prstGeom prst="rect">
            <a:avLst/>
          </a:prstGeom>
        </p:spPr>
      </p:pic>
      <p:sp>
        <p:nvSpPr>
          <p:cNvPr id="60" name="Text 49"/>
          <p:cNvSpPr txBox="1"/>
          <p:nvPr/>
        </p:nvSpPr>
        <p:spPr>
          <a:xfrm>
            <a:off x="6853428" y="3511296"/>
            <a:ext cx="3415284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Produtividade apenas de quem trabalhou na fila</a:t>
            </a:r>
            <a:endParaRPr lang="en-US" sz="1150" dirty="0"/>
          </a:p>
        </p:txBody>
      </p:sp>
      <p:sp>
        <p:nvSpPr>
          <p:cNvPr id="61" name="Shape 50"/>
          <p:cNvSpPr/>
          <p:nvPr/>
        </p:nvSpPr>
        <p:spPr>
          <a:xfrm>
            <a:off x="10222992" y="3730752"/>
            <a:ext cx="1143000" cy="237744"/>
          </a:xfrm>
          <a:prstGeom prst="roundRect">
            <a:avLst>
              <a:gd name="adj" fmla="val 23077"/>
            </a:avLst>
          </a:prstGeom>
          <a:solidFill>
            <a:srgbClr val="FFFFFF">
              <a:alpha val="12000"/>
            </a:srgbClr>
          </a:solidFill>
          <a:ln w="9525">
            <a:solidFill>
              <a:srgbClr val="E9A13B">
                <a:alpha val="50000"/>
              </a:srgbClr>
            </a:solidFill>
            <a:prstDash val="solid"/>
          </a:ln>
        </p:spPr>
      </p:sp>
      <p:sp>
        <p:nvSpPr>
          <p:cNvPr id="62" name="Text 51"/>
          <p:cNvSpPr txBox="1"/>
          <p:nvPr/>
        </p:nvSpPr>
        <p:spPr>
          <a:xfrm>
            <a:off x="10222992" y="3730752"/>
            <a:ext cx="1143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spc="5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CONCEITO</a:t>
            </a:r>
            <a:endParaRPr lang="en-US" sz="750" dirty="0"/>
          </a:p>
        </p:txBody>
      </p:sp>
      <p:sp>
        <p:nvSpPr>
          <p:cNvPr id="63" name="Shape 52"/>
          <p:cNvSpPr/>
          <p:nvPr/>
        </p:nvSpPr>
        <p:spPr>
          <a:xfrm>
            <a:off x="6195060" y="4297680"/>
            <a:ext cx="5426964" cy="676656"/>
          </a:xfrm>
          <a:prstGeom prst="roundRect">
            <a:avLst>
              <a:gd name="adj" fmla="val 10811"/>
            </a:avLst>
          </a:prstGeom>
          <a:solidFill>
            <a:srgbClr val="FFFFFF">
              <a:alpha val="6000"/>
            </a:srgbClr>
          </a:solidFill>
          <a:ln w="12700">
            <a:solidFill>
              <a:srgbClr val="31507F">
                <a:alpha val="55000"/>
              </a:srgbClr>
            </a:solidFill>
            <a:prstDash val="solid"/>
          </a:ln>
        </p:spPr>
      </p:sp>
      <p:sp>
        <p:nvSpPr>
          <p:cNvPr id="64" name="Shape 53"/>
          <p:cNvSpPr/>
          <p:nvPr/>
        </p:nvSpPr>
        <p:spPr>
          <a:xfrm>
            <a:off x="6451092" y="4489704"/>
            <a:ext cx="292608" cy="292608"/>
          </a:xfrm>
          <a:prstGeom prst="ellipse">
            <a:avLst/>
          </a:prstGeom>
          <a:solidFill>
            <a:srgbClr val="E9A13B">
              <a:alpha val="55000"/>
            </a:srgbClr>
          </a:solidFill>
          <a:ln/>
        </p:spPr>
      </p:sp>
      <p:pic>
        <p:nvPicPr>
          <p:cNvPr id="65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519672" y="4558284"/>
            <a:ext cx="155448" cy="155448"/>
          </a:xfrm>
          <a:prstGeom prst="rect">
            <a:avLst/>
          </a:prstGeom>
        </p:spPr>
      </p:pic>
      <p:sp>
        <p:nvSpPr>
          <p:cNvPr id="66" name="Text 54"/>
          <p:cNvSpPr txBox="1"/>
          <p:nvPr/>
        </p:nvSpPr>
        <p:spPr>
          <a:xfrm>
            <a:off x="6853428" y="4297680"/>
            <a:ext cx="3415284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Filtro de operador já logado</a:t>
            </a:r>
            <a:endParaRPr lang="en-US" sz="1150" dirty="0"/>
          </a:p>
        </p:txBody>
      </p:sp>
      <p:sp>
        <p:nvSpPr>
          <p:cNvPr id="67" name="Shape 55"/>
          <p:cNvSpPr/>
          <p:nvPr/>
        </p:nvSpPr>
        <p:spPr>
          <a:xfrm>
            <a:off x="10222992" y="4517136"/>
            <a:ext cx="1143000" cy="237744"/>
          </a:xfrm>
          <a:prstGeom prst="roundRect">
            <a:avLst>
              <a:gd name="adj" fmla="val 23077"/>
            </a:avLst>
          </a:prstGeom>
          <a:solidFill>
            <a:srgbClr val="FFFFFF">
              <a:alpha val="12000"/>
            </a:srgbClr>
          </a:solidFill>
          <a:ln w="9525">
            <a:solidFill>
              <a:srgbClr val="E9A13B">
                <a:alpha val="50000"/>
              </a:srgbClr>
            </a:solidFill>
            <a:prstDash val="solid"/>
          </a:ln>
        </p:spPr>
      </p:sp>
      <p:sp>
        <p:nvSpPr>
          <p:cNvPr id="68" name="Text 56"/>
          <p:cNvSpPr txBox="1"/>
          <p:nvPr/>
        </p:nvSpPr>
        <p:spPr>
          <a:xfrm>
            <a:off x="10222992" y="4517136"/>
            <a:ext cx="1143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spc="5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CONCEITO</a:t>
            </a:r>
            <a:endParaRPr lang="en-US" sz="750" dirty="0"/>
          </a:p>
        </p:txBody>
      </p:sp>
      <p:sp>
        <p:nvSpPr>
          <p:cNvPr id="69" name="Shape 57"/>
          <p:cNvSpPr/>
          <p:nvPr/>
        </p:nvSpPr>
        <p:spPr>
          <a:xfrm>
            <a:off x="6195060" y="5084064"/>
            <a:ext cx="5426964" cy="676656"/>
          </a:xfrm>
          <a:prstGeom prst="roundRect">
            <a:avLst>
              <a:gd name="adj" fmla="val 10811"/>
            </a:avLst>
          </a:prstGeom>
          <a:solidFill>
            <a:srgbClr val="FFFFFF">
              <a:alpha val="6000"/>
            </a:srgbClr>
          </a:solidFill>
          <a:ln w="12700">
            <a:solidFill>
              <a:srgbClr val="31507F">
                <a:alpha val="55000"/>
              </a:srgbClr>
            </a:solidFill>
            <a:prstDash val="solid"/>
          </a:ln>
        </p:spPr>
      </p:sp>
      <p:sp>
        <p:nvSpPr>
          <p:cNvPr id="70" name="Shape 58"/>
          <p:cNvSpPr/>
          <p:nvPr/>
        </p:nvSpPr>
        <p:spPr>
          <a:xfrm>
            <a:off x="6451092" y="5276088"/>
            <a:ext cx="292608" cy="292608"/>
          </a:xfrm>
          <a:prstGeom prst="ellipse">
            <a:avLst/>
          </a:prstGeom>
          <a:solidFill>
            <a:srgbClr val="E9A13B">
              <a:alpha val="55000"/>
            </a:srgbClr>
          </a:solidFill>
          <a:ln/>
        </p:spPr>
      </p:sp>
      <p:pic>
        <p:nvPicPr>
          <p:cNvPr id="71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519672" y="5344668"/>
            <a:ext cx="155448" cy="155448"/>
          </a:xfrm>
          <a:prstGeom prst="rect">
            <a:avLst/>
          </a:prstGeom>
        </p:spPr>
      </p:pic>
      <p:sp>
        <p:nvSpPr>
          <p:cNvPr id="72" name="Text 59"/>
          <p:cNvSpPr txBox="1"/>
          <p:nvPr/>
        </p:nvSpPr>
        <p:spPr>
          <a:xfrm>
            <a:off x="6853428" y="5212080"/>
            <a:ext cx="34152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Acesso para migração entre filas</a:t>
            </a:r>
            <a:endParaRPr lang="en-US" sz="1150" dirty="0"/>
          </a:p>
        </p:txBody>
      </p:sp>
      <p:sp>
        <p:nvSpPr>
          <p:cNvPr id="73" name="Text 60"/>
          <p:cNvSpPr txBox="1"/>
          <p:nvPr/>
        </p:nvSpPr>
        <p:spPr>
          <a:xfrm>
            <a:off x="6853428" y="5449824"/>
            <a:ext cx="34152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9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solicitação aberta</a:t>
            </a:r>
            <a:endParaRPr lang="en-US" sz="900" dirty="0"/>
          </a:p>
        </p:txBody>
      </p:sp>
      <p:sp>
        <p:nvSpPr>
          <p:cNvPr id="74" name="Shape 61"/>
          <p:cNvSpPr/>
          <p:nvPr/>
        </p:nvSpPr>
        <p:spPr>
          <a:xfrm>
            <a:off x="10222992" y="5303520"/>
            <a:ext cx="1143000" cy="237744"/>
          </a:xfrm>
          <a:prstGeom prst="roundRect">
            <a:avLst>
              <a:gd name="adj" fmla="val 23077"/>
            </a:avLst>
          </a:prstGeom>
          <a:solidFill>
            <a:srgbClr val="FFFFFF">
              <a:alpha val="12000"/>
            </a:srgbClr>
          </a:solidFill>
          <a:ln w="9525">
            <a:solidFill>
              <a:srgbClr val="E9A13B">
                <a:alpha val="50000"/>
              </a:srgbClr>
            </a:solidFill>
            <a:prstDash val="solid"/>
          </a:ln>
        </p:spPr>
      </p:sp>
      <p:sp>
        <p:nvSpPr>
          <p:cNvPr id="75" name="Text 62"/>
          <p:cNvSpPr txBox="1"/>
          <p:nvPr/>
        </p:nvSpPr>
        <p:spPr>
          <a:xfrm>
            <a:off x="10222992" y="5303520"/>
            <a:ext cx="1143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spc="5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ANDAMENTO</a:t>
            </a:r>
            <a:endParaRPr lang="en-US" sz="750" dirty="0"/>
          </a:p>
        </p:txBody>
      </p:sp>
      <p:sp>
        <p:nvSpPr>
          <p:cNvPr id="76" name="Shape 63"/>
          <p:cNvSpPr/>
          <p:nvPr/>
        </p:nvSpPr>
        <p:spPr>
          <a:xfrm>
            <a:off x="566928" y="5925312"/>
            <a:ext cx="11055096" cy="603504"/>
          </a:xfrm>
          <a:prstGeom prst="roundRect">
            <a:avLst>
              <a:gd name="adj" fmla="val 13636"/>
            </a:avLst>
          </a:prstGeom>
          <a:solidFill>
            <a:srgbClr val="FFFFFF">
              <a:alpha val="6000"/>
            </a:srgbClr>
          </a:solidFill>
          <a:ln w="12700">
            <a:solidFill>
              <a:srgbClr val="31507F"/>
            </a:solidFill>
            <a:prstDash val="solid"/>
          </a:ln>
        </p:spPr>
      </p:sp>
      <p:sp>
        <p:nvSpPr>
          <p:cNvPr id="77" name="Text 64"/>
          <p:cNvSpPr txBox="1"/>
          <p:nvPr/>
        </p:nvSpPr>
        <p:spPr>
          <a:xfrm>
            <a:off x="932688" y="5925312"/>
            <a:ext cx="1032357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3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CONCEITO   </a:t>
            </a:r>
            <a:pPr indent="0" marL="0">
              <a:buNone/>
            </a:pPr>
            <a:r>
              <a:rPr lang="en-US" sz="1050" dirty="0">
                <a:solidFill>
                  <a:srgbClr val="D8E4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regra validada, implementação na sequência.        </a:t>
            </a:r>
            <a:pPr indent="0" marL="0">
              <a:buNone/>
            </a:pPr>
            <a:r>
              <a:rPr lang="en-US" sz="900" b="1" spc="13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ANDAMENTO   </a:t>
            </a:r>
            <a:pPr indent="0" marL="0">
              <a:buNone/>
            </a:pPr>
            <a:r>
              <a:rPr lang="en-US" sz="1050" dirty="0">
                <a:solidFill>
                  <a:srgbClr val="D8E4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migração entre filas aguarda liberação de acesso.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Planejamento — ganhos e PMO</dc:title>
  <dc:subject>PptxGenJS Presentation</dc:subject>
  <dc:creator>Planejamento</dc:creator>
  <cp:lastModifiedBy>Planejamento</cp:lastModifiedBy>
  <cp:revision>1</cp:revision>
  <dcterms:created xsi:type="dcterms:W3CDTF">2026-10-05T20:42:13Z</dcterms:created>
  <dcterms:modified xsi:type="dcterms:W3CDTF">2026-10-05T20:42:13Z</dcterms:modified>
</cp:coreProperties>
</file>