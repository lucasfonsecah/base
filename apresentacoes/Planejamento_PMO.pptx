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central: o Willyan assume o processo, o tratamento dos dados e a construção das visões. A operação recebe a leitura pronta e decide. Hora a Hora: acompanhamento intradiário contra a meta do dia — dá para ver onde o ritmo cai, em qual carteira, e reagir no mesmo turno. Já concluído na N4; N5 em desenvolvimento. Dashboard D-1: dia anterior fechado com N4 e N5 na mesma régua. São 33 métricas mapeadas nos três dashboards, 16 já concluídas. Metas e comparativos: com a meta dentro do relatório, ganhamos visão mês a mês e atingimento contra o mês corrente. Por trás das visões, o Will atua no desenvolvimento dos processos, na automação de relatórios e rotinas, na identificação de oportunidades e nos estudos que levam análise para as reuniões.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Dashboards das carteiras N5: 18 métricas no total, divididas em quantitativo, tempos e análises percentuais. O Pró-Ativos tem 2 de 9 concluídas (clientes trabalhados e finalizados, com a Andressa). O Onboarding ainda não tem métrica concluída. Os tempos vêm do Pmóvel e estão com o Willyan nas duas carteiras, com prazo em 05/10. O P.A depende do cliente. A periodicidade das duas ainda precisa ser definida.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a Hora da N4: 15 métricas mapeadas, 14 concluídas, com atualização quatro vezes ao dia. O quantitativo cobre clientes trabalhados e finalizados, SLA, visão por tabulação, clientes fechados por hora e por célula, distribuição por status e corte por semana e mês. Os tempos trazem logado, pausas e TMA por tabulação. As análises percentuais trazem clientes por PA, finalizados por PA e reagendados. O único item em aberto é o P.A, que depende do cliente, com prazo em 05/10. Esta é a referência de maturidade para levar às carteiras N5.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PMO dos processos recorrentes: cinco rotinas replicadas nas três carteiras. Quatro vêm dos KPI's Meli e a movimentação de fila vem do CX One. A N4 (Lucas) já está concluída nas três rotinas diárias: desenvolvimento do HXH, envio do HXH e análise de dados. Nas carteiras N5, o desenvolvimento e o envio do HXH estão em andamento com Deyvid (Pró-Ativos) e Andressa (Onboarding). A movimentação de fila entrou como nova rotina diária nas três carteiras, com a Juliana e prazo em 09/10. O ponto crítico segue sendo o acesso externo: o preenchimento para a apresentação semanal (focal Juliana, N5 às quartas e N4 às terças) e a análise de dados e insights das duas carteiras N5 estão parados aguardando o acesso aos KPI's Meli, com prazo em 09/10.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PMO das reuniões de alinhamento. Seis frentes acordadas. A apresentação de resultados é semanal, às quintas, e está pendente de acesso externo. O dimensionamento (demanda entrante mais backlog) tem os dados avaliados nesta semana para começar a movimentar na próxima, com prazo em 13/10. Os dois dashboards com dados manuais (Pró-Ativos e Onboarding) exigem aprofundamento do Will na carteira: no Pró-Ativos, analisar as planilhas do Deyvid e desenhar o processo de acompanhamento; no Onboarding, mapear com a Andressa e desenhar o fluxo com operações para controlar o preenchimento pelos agentes. Ambos em 13/10. A demanda de catálogo envolve extrair a base do CRM, separar por vendor e definir a prioridade de tratativa. Por fim, a análise de KPIs deve ser feita por frente de atuação e não de forma consolidada, com foco no aging de 5 dias sem atuação: a visão por frentes ainda precisa ser desenvolvida e o acompanhamento de aging já está construído, aguardando acesso externo para validar 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PMO das evoluções do dashboard pedidas no alinhamento: de dez pontos, sete estão entregues — volumetria de casos fechados por hora na evolução dia a dia, volumetria e percentual por célula, todos os status dos tickets além do fechado, visão online de N4 com acesso do Plan no CXOne, abertura por semana e ano, visão de tabulação dos casos tratados e abertura de TMA e recebimento por categoria. Dois estão validados em conceito e entram na implementação: produtividade apenas de quem trabalhou na fila e filtro de operador já logado. Um segue em andamento: o acesso para migração entre filas, que depende de liberação.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572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  ·   WILLYAN</a:t>
            </a:r>
            <a:endParaRPr lang="en-US" sz="1150" dirty="0"/>
          </a:p>
        </p:txBody>
      </p:sp>
      <p:sp>
        <p:nvSpPr>
          <p:cNvPr id="4" name="Shape 1"/>
          <p:cNvSpPr/>
          <p:nvPr/>
        </p:nvSpPr>
        <p:spPr>
          <a:xfrm>
            <a:off x="8924544" y="365760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E9A13B">
              <a:alpha val="14000"/>
            </a:srgbClr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07424" y="466344"/>
            <a:ext cx="219456" cy="219456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521208"/>
            <a:ext cx="109728" cy="1097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400032" y="36576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ACESSOS LIBERADOS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7772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dado deixa de ser relatório </a:t>
            </a:r>
            <a:pPr indent="0" marL="0">
              <a:buNone/>
            </a:pPr>
            <a:r>
              <a:rPr lang="en-US" sz="29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vira decisão</a:t>
            </a:r>
            <a:endParaRPr lang="en-US" sz="29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1371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 assume o processo, o tratamento dos dados e a construção das visões — agora com a meta dentro do relatório.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66928" y="1828800"/>
            <a:ext cx="3502152" cy="2340864"/>
          </a:xfrm>
          <a:prstGeom prst="roundRect">
            <a:avLst>
              <a:gd name="adj" fmla="val 4688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31507F"/>
            </a:solidFill>
            <a:prstDash val="solid"/>
          </a:ln>
          <a:effectLst>
            <a:outerShdw sx="100000" sy="100000" kx="0" ky="0" algn="bl" rotWithShape="0" blurRad="177800" dist="38100" dir="5400000">
              <a:srgbClr val="030913">
                <a:alpha val="3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77824" y="206654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A HORA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77824" y="2340864"/>
            <a:ext cx="658368" cy="65836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52374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64208" y="2340864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real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877824" y="30906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contra a meta do dia: aponta onde o ritmo cai e em qual carteira, a tempo de reagir.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877824" y="37856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concluído (14/15)  ·  N5 em curso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343400" y="1828800"/>
            <a:ext cx="3502152" cy="2340864"/>
          </a:xfrm>
          <a:prstGeom prst="roundRect">
            <a:avLst>
              <a:gd name="adj" fmla="val 4688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31507F"/>
            </a:solidFill>
            <a:prstDash val="solid"/>
          </a:ln>
          <a:effectLst>
            <a:outerShdw sx="100000" sy="100000" kx="0" ky="0" algn="bl" rotWithShape="0" blurRad="177800" dist="38100" dir="5400000">
              <a:srgbClr val="030913">
                <a:alpha val="35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4654296" y="206654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D-1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54296" y="2340864"/>
            <a:ext cx="658368" cy="65836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52374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40680" y="2340864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só número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4654296" y="30906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anterior fechado com N4 e N5 na mesma régua: comparação direta entre carteiras, sem planilha paralela.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4654296" y="37856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métricas mapeadas  ·  16 concluídas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8119872" y="1828800"/>
            <a:ext cx="3502152" cy="2340864"/>
          </a:xfrm>
          <a:prstGeom prst="roundRect">
            <a:avLst>
              <a:gd name="adj" fmla="val 4688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31507F"/>
            </a:solidFill>
            <a:prstDash val="solid"/>
          </a:ln>
          <a:effectLst>
            <a:outerShdw sx="100000" sy="100000" kx="0" ky="0" algn="bl" rotWithShape="0" blurRad="177800" dist="38100" dir="5400000">
              <a:srgbClr val="030913">
                <a:alpha val="35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8430768" y="206654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E COMPARATIVOS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8430768" y="2340864"/>
            <a:ext cx="658368" cy="65836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2523744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217152" y="2340864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Atingimento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8430768" y="30906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a mês e contra o mês corrente: mostra a tendência e a distância da meta, não só a foto do dia.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8430768" y="37856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ao Hora a Hora e ao D-1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66928" y="4370832"/>
            <a:ext cx="11055096" cy="1993392"/>
          </a:xfrm>
          <a:prstGeom prst="roundRect">
            <a:avLst>
              <a:gd name="adj" fmla="val 5505"/>
            </a:avLst>
          </a:prstGeom>
          <a:solidFill>
            <a:srgbClr val="E9A13B">
              <a:alpha val="12000"/>
            </a:srgbClr>
          </a:solidFill>
          <a:ln w="22225">
            <a:solidFill>
              <a:srgbClr val="E9A13B"/>
            </a:solidFill>
            <a:prstDash val="solid"/>
          </a:ln>
          <a:effectLst>
            <a:outerShdw sx="100000" sy="100000" kx="0" ky="0" algn="bl" rotWithShape="0" blurRad="228600" dist="50800" dir="5400000">
              <a:srgbClr val="030913">
                <a:alpha val="4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950976" y="46085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WILL ENTREGA POR TRÁS DAS VISÕES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950976" y="5047488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" y="5161788"/>
            <a:ext cx="192024" cy="19202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50976" y="5577840"/>
            <a:ext cx="2393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950976" y="5870448"/>
            <a:ext cx="2393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e evolui as visões junto com a operação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3582162" y="5047488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6462" y="5161788"/>
            <a:ext cx="192024" cy="19202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582162" y="5577840"/>
            <a:ext cx="2393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3582162" y="5870448"/>
            <a:ext cx="2393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o trabalho manual de relatórios e rotinas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213348" y="5047488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5161788"/>
            <a:ext cx="192024" cy="19202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213348" y="5577840"/>
            <a:ext cx="2393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300" dirty="0"/>
          </a:p>
        </p:txBody>
      </p:sp>
      <p:sp>
        <p:nvSpPr>
          <p:cNvPr id="44" name="Text 34"/>
          <p:cNvSpPr txBox="1"/>
          <p:nvPr/>
        </p:nvSpPr>
        <p:spPr>
          <a:xfrm>
            <a:off x="6213348" y="5870448"/>
            <a:ext cx="2393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processo e aponta onde está o ganho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8844534" y="5047488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8834" y="5161788"/>
            <a:ext cx="192024" cy="192024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844534" y="5577840"/>
            <a:ext cx="2393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Estudos</a:t>
            </a:r>
            <a:endParaRPr lang="en-US" sz="1300" dirty="0"/>
          </a:p>
        </p:txBody>
      </p:sp>
      <p:sp>
        <p:nvSpPr>
          <p:cNvPr id="48" name="Text 37"/>
          <p:cNvSpPr txBox="1"/>
          <p:nvPr/>
        </p:nvSpPr>
        <p:spPr>
          <a:xfrm>
            <a:off x="8844534" y="5870448"/>
            <a:ext cx="2393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análise e recomendação para a reunião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  ·   DASHBOARDS N5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das carteiras N5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353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métricas mapeadas entre Onboarding e Pró-Ativos — 2 concluídas e 16 em andamento.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650224" y="45720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4544" y="612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N5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924544" y="8046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18 concluídas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924544" y="1152144"/>
            <a:ext cx="2423160" cy="9144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24544" y="1152144"/>
            <a:ext cx="269240" cy="91440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1901952"/>
            <a:ext cx="5367528" cy="3822192"/>
          </a:xfrm>
          <a:prstGeom prst="roundRect">
            <a:avLst>
              <a:gd name="adj" fmla="val 263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7824" y="2139696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 ONBOARDING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21396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0/9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" y="2432304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Periodicidade a definir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77824" y="2688336"/>
            <a:ext cx="4745736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7824" y="2871216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QUANTITATIVO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3447288" y="287121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4361688" y="287121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5184648" y="287121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896112" y="3145536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97280" y="3090672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P.A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447288" y="309067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361688" y="309067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184648" y="309067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96112" y="3355848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97280" y="3300984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trabalhados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3447288" y="3300984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361688" y="330098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Deyvid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184648" y="330098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96112" y="3566160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97280" y="3511296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finalizados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3447288" y="3511296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361688" y="3511296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Deyvid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5184648" y="3511296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96112" y="3776472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97280" y="3721608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3447288" y="3721608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4361688" y="372160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Deyvid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5184648" y="372160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877824" y="3968496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097280" y="4187952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logado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3447288" y="418795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Pmóvel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4361688" y="418795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5184648" y="418795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896112" y="4453128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1097280" y="4398264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pausas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3447288" y="4398264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Pmóvel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4361688" y="439826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5184648" y="43982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877824" y="4645152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 %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896112" y="4919472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1097280" y="4864608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/ PA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3447288" y="4864608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4361688" y="486460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5184648" y="486460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896112" y="5129784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1097280" y="5074920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Finalizados / PA</a:t>
            </a:r>
            <a:endParaRPr lang="en-US" sz="1050" dirty="0"/>
          </a:p>
        </p:txBody>
      </p:sp>
      <p:sp>
        <p:nvSpPr>
          <p:cNvPr id="59" name="Text 56"/>
          <p:cNvSpPr txBox="1"/>
          <p:nvPr/>
        </p:nvSpPr>
        <p:spPr>
          <a:xfrm>
            <a:off x="3447288" y="5074920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4361688" y="5074920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61" name="Text 58"/>
          <p:cNvSpPr txBox="1"/>
          <p:nvPr/>
        </p:nvSpPr>
        <p:spPr>
          <a:xfrm>
            <a:off x="5184648" y="507492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896112" y="5340096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097280" y="5285232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Reagendados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3447288" y="528523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65" name="Text 62"/>
          <p:cNvSpPr txBox="1"/>
          <p:nvPr/>
        </p:nvSpPr>
        <p:spPr>
          <a:xfrm>
            <a:off x="4361688" y="528523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66" name="Text 63"/>
          <p:cNvSpPr txBox="1"/>
          <p:nvPr/>
        </p:nvSpPr>
        <p:spPr>
          <a:xfrm>
            <a:off x="5184648" y="528523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6254496" y="1901952"/>
            <a:ext cx="5367528" cy="3822192"/>
          </a:xfrm>
          <a:prstGeom prst="roundRect">
            <a:avLst>
              <a:gd name="adj" fmla="val 263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6565392" y="2139696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 PRÓ-ATIVOS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10671048" y="21396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2/9</a:t>
            </a:r>
            <a:endParaRPr lang="en-US" sz="1500" dirty="0"/>
          </a:p>
        </p:txBody>
      </p:sp>
      <p:sp>
        <p:nvSpPr>
          <p:cNvPr id="70" name="Text 67"/>
          <p:cNvSpPr txBox="1"/>
          <p:nvPr/>
        </p:nvSpPr>
        <p:spPr>
          <a:xfrm>
            <a:off x="6565392" y="2432304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Periodicidade a definir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6565392" y="2688336"/>
            <a:ext cx="4745736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565392" y="2688336"/>
            <a:ext cx="1054608" cy="73152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6565392" y="2871216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QUANTITATIVO</a:t>
            </a:r>
            <a:endParaRPr lang="en-US" sz="850" dirty="0"/>
          </a:p>
        </p:txBody>
      </p:sp>
      <p:sp>
        <p:nvSpPr>
          <p:cNvPr id="74" name="Text 71"/>
          <p:cNvSpPr txBox="1"/>
          <p:nvPr/>
        </p:nvSpPr>
        <p:spPr>
          <a:xfrm>
            <a:off x="9134856" y="287121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700" dirty="0"/>
          </a:p>
        </p:txBody>
      </p:sp>
      <p:sp>
        <p:nvSpPr>
          <p:cNvPr id="75" name="Text 72"/>
          <p:cNvSpPr txBox="1"/>
          <p:nvPr/>
        </p:nvSpPr>
        <p:spPr>
          <a:xfrm>
            <a:off x="10049256" y="287121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</a:t>
            </a:r>
            <a:endParaRPr lang="en-US" sz="700" dirty="0"/>
          </a:p>
        </p:txBody>
      </p:sp>
      <p:sp>
        <p:nvSpPr>
          <p:cNvPr id="76" name="Text 73"/>
          <p:cNvSpPr txBox="1"/>
          <p:nvPr/>
        </p:nvSpPr>
        <p:spPr>
          <a:xfrm>
            <a:off x="10872216" y="287121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6583680" y="3145536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6784848" y="3090672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P.A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9134856" y="309067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80" name="Text 77"/>
          <p:cNvSpPr txBox="1"/>
          <p:nvPr/>
        </p:nvSpPr>
        <p:spPr>
          <a:xfrm>
            <a:off x="10049256" y="309067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00" dirty="0"/>
          </a:p>
        </p:txBody>
      </p:sp>
      <p:sp>
        <p:nvSpPr>
          <p:cNvPr id="81" name="Text 78"/>
          <p:cNvSpPr txBox="1"/>
          <p:nvPr/>
        </p:nvSpPr>
        <p:spPr>
          <a:xfrm>
            <a:off x="10872216" y="309067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6583680" y="3355848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6784848" y="3300984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trabalhados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9134856" y="3300984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85" name="Text 82"/>
          <p:cNvSpPr txBox="1"/>
          <p:nvPr/>
        </p:nvSpPr>
        <p:spPr>
          <a:xfrm>
            <a:off x="10049256" y="330098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Andressa</a:t>
            </a:r>
            <a:endParaRPr lang="en-US" sz="900" dirty="0"/>
          </a:p>
        </p:txBody>
      </p:sp>
      <p:sp>
        <p:nvSpPr>
          <p:cNvPr id="86" name="Text 83"/>
          <p:cNvSpPr txBox="1"/>
          <p:nvPr/>
        </p:nvSpPr>
        <p:spPr>
          <a:xfrm>
            <a:off x="10872216" y="330098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08/10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6583680" y="3566160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6784848" y="3511296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finalizados</a:t>
            </a:r>
            <a:endParaRPr lang="en-US" sz="1050" dirty="0"/>
          </a:p>
        </p:txBody>
      </p:sp>
      <p:sp>
        <p:nvSpPr>
          <p:cNvPr id="89" name="Text 86"/>
          <p:cNvSpPr txBox="1"/>
          <p:nvPr/>
        </p:nvSpPr>
        <p:spPr>
          <a:xfrm>
            <a:off x="9134856" y="3511296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90" name="Text 87"/>
          <p:cNvSpPr txBox="1"/>
          <p:nvPr/>
        </p:nvSpPr>
        <p:spPr>
          <a:xfrm>
            <a:off x="10049256" y="3511296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Andressa</a:t>
            </a:r>
            <a:endParaRPr lang="en-US" sz="900" dirty="0"/>
          </a:p>
        </p:txBody>
      </p:sp>
      <p:sp>
        <p:nvSpPr>
          <p:cNvPr id="91" name="Text 88"/>
          <p:cNvSpPr txBox="1"/>
          <p:nvPr/>
        </p:nvSpPr>
        <p:spPr>
          <a:xfrm>
            <a:off x="10872216" y="3511296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08/10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6583680" y="3776472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6784848" y="3721608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050" dirty="0"/>
          </a:p>
        </p:txBody>
      </p:sp>
      <p:sp>
        <p:nvSpPr>
          <p:cNvPr id="94" name="Text 91"/>
          <p:cNvSpPr txBox="1"/>
          <p:nvPr/>
        </p:nvSpPr>
        <p:spPr>
          <a:xfrm>
            <a:off x="9134856" y="3721608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95" name="Text 92"/>
          <p:cNvSpPr txBox="1"/>
          <p:nvPr/>
        </p:nvSpPr>
        <p:spPr>
          <a:xfrm>
            <a:off x="10049256" y="372160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Andressa</a:t>
            </a:r>
            <a:endParaRPr lang="en-US" sz="900" dirty="0"/>
          </a:p>
        </p:txBody>
      </p:sp>
      <p:sp>
        <p:nvSpPr>
          <p:cNvPr id="96" name="Text 93"/>
          <p:cNvSpPr txBox="1"/>
          <p:nvPr/>
        </p:nvSpPr>
        <p:spPr>
          <a:xfrm>
            <a:off x="10872216" y="372160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08/10</a:t>
            </a:r>
            <a:endParaRPr lang="en-US" sz="950" dirty="0"/>
          </a:p>
        </p:txBody>
      </p:sp>
      <p:sp>
        <p:nvSpPr>
          <p:cNvPr id="97" name="Text 94"/>
          <p:cNvSpPr txBox="1"/>
          <p:nvPr/>
        </p:nvSpPr>
        <p:spPr>
          <a:xfrm>
            <a:off x="6565392" y="3968496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TEMPOS</a:t>
            </a:r>
            <a:endParaRPr lang="en-US" sz="850" dirty="0"/>
          </a:p>
        </p:txBody>
      </p:sp>
      <p:sp>
        <p:nvSpPr>
          <p:cNvPr id="98" name="Shape 95"/>
          <p:cNvSpPr/>
          <p:nvPr/>
        </p:nvSpPr>
        <p:spPr>
          <a:xfrm>
            <a:off x="6583680" y="4242816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6784848" y="4187952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logado</a:t>
            </a:r>
            <a:endParaRPr lang="en-US" sz="1050" dirty="0"/>
          </a:p>
        </p:txBody>
      </p:sp>
      <p:sp>
        <p:nvSpPr>
          <p:cNvPr id="100" name="Text 97"/>
          <p:cNvSpPr txBox="1"/>
          <p:nvPr/>
        </p:nvSpPr>
        <p:spPr>
          <a:xfrm>
            <a:off x="9134856" y="418795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Pmóvel</a:t>
            </a:r>
            <a:endParaRPr lang="en-US" sz="900" dirty="0"/>
          </a:p>
        </p:txBody>
      </p:sp>
      <p:sp>
        <p:nvSpPr>
          <p:cNvPr id="101" name="Text 98"/>
          <p:cNvSpPr txBox="1"/>
          <p:nvPr/>
        </p:nvSpPr>
        <p:spPr>
          <a:xfrm>
            <a:off x="10049256" y="418795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102" name="Text 99"/>
          <p:cNvSpPr txBox="1"/>
          <p:nvPr/>
        </p:nvSpPr>
        <p:spPr>
          <a:xfrm>
            <a:off x="10872216" y="418795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6583680" y="4453128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784848" y="4398264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pausas</a:t>
            </a:r>
            <a:endParaRPr lang="en-US" sz="1050" dirty="0"/>
          </a:p>
        </p:txBody>
      </p:sp>
      <p:sp>
        <p:nvSpPr>
          <p:cNvPr id="105" name="Text 102"/>
          <p:cNvSpPr txBox="1"/>
          <p:nvPr/>
        </p:nvSpPr>
        <p:spPr>
          <a:xfrm>
            <a:off x="9134856" y="4398264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Pmóvel</a:t>
            </a:r>
            <a:endParaRPr lang="en-US" sz="900" dirty="0"/>
          </a:p>
        </p:txBody>
      </p:sp>
      <p:sp>
        <p:nvSpPr>
          <p:cNvPr id="106" name="Text 103"/>
          <p:cNvSpPr txBox="1"/>
          <p:nvPr/>
        </p:nvSpPr>
        <p:spPr>
          <a:xfrm>
            <a:off x="10049256" y="439826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107" name="Text 104"/>
          <p:cNvSpPr txBox="1"/>
          <p:nvPr/>
        </p:nvSpPr>
        <p:spPr>
          <a:xfrm>
            <a:off x="10872216" y="43982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108" name="Text 105"/>
          <p:cNvSpPr txBox="1"/>
          <p:nvPr/>
        </p:nvSpPr>
        <p:spPr>
          <a:xfrm>
            <a:off x="6565392" y="4645152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 %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6583680" y="4919472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6784848" y="4864608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/ PA</a:t>
            </a:r>
            <a:endParaRPr lang="en-US" sz="1050" dirty="0"/>
          </a:p>
        </p:txBody>
      </p:sp>
      <p:sp>
        <p:nvSpPr>
          <p:cNvPr id="111" name="Text 108"/>
          <p:cNvSpPr txBox="1"/>
          <p:nvPr/>
        </p:nvSpPr>
        <p:spPr>
          <a:xfrm>
            <a:off x="9134856" y="4864608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12" name="Text 109"/>
          <p:cNvSpPr txBox="1"/>
          <p:nvPr/>
        </p:nvSpPr>
        <p:spPr>
          <a:xfrm>
            <a:off x="10049256" y="486460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113" name="Text 110"/>
          <p:cNvSpPr txBox="1"/>
          <p:nvPr/>
        </p:nvSpPr>
        <p:spPr>
          <a:xfrm>
            <a:off x="10872216" y="486460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08/10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6583680" y="5129784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6784848" y="5074920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Finalizados / PA</a:t>
            </a:r>
            <a:endParaRPr lang="en-US" sz="1050" dirty="0"/>
          </a:p>
        </p:txBody>
      </p:sp>
      <p:sp>
        <p:nvSpPr>
          <p:cNvPr id="116" name="Text 113"/>
          <p:cNvSpPr txBox="1"/>
          <p:nvPr/>
        </p:nvSpPr>
        <p:spPr>
          <a:xfrm>
            <a:off x="9134856" y="5074920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17" name="Text 114"/>
          <p:cNvSpPr txBox="1"/>
          <p:nvPr/>
        </p:nvSpPr>
        <p:spPr>
          <a:xfrm>
            <a:off x="10049256" y="5074920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118" name="Text 115"/>
          <p:cNvSpPr txBox="1"/>
          <p:nvPr/>
        </p:nvSpPr>
        <p:spPr>
          <a:xfrm>
            <a:off x="10872216" y="507492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08/10</a:t>
            </a:r>
            <a:endParaRPr lang="en-US" sz="950" dirty="0"/>
          </a:p>
        </p:txBody>
      </p:sp>
      <p:sp>
        <p:nvSpPr>
          <p:cNvPr id="119" name="Shape 116"/>
          <p:cNvSpPr/>
          <p:nvPr/>
        </p:nvSpPr>
        <p:spPr>
          <a:xfrm>
            <a:off x="6583680" y="5340096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6784848" y="5285232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Reagendados</a:t>
            </a:r>
            <a:endParaRPr lang="en-US" sz="1050" dirty="0"/>
          </a:p>
        </p:txBody>
      </p:sp>
      <p:sp>
        <p:nvSpPr>
          <p:cNvPr id="121" name="Text 118"/>
          <p:cNvSpPr txBox="1"/>
          <p:nvPr/>
        </p:nvSpPr>
        <p:spPr>
          <a:xfrm>
            <a:off x="9134856" y="528523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22" name="Text 119"/>
          <p:cNvSpPr txBox="1"/>
          <p:nvPr/>
        </p:nvSpPr>
        <p:spPr>
          <a:xfrm>
            <a:off x="10049256" y="5285232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123" name="Text 120"/>
          <p:cNvSpPr txBox="1"/>
          <p:nvPr/>
        </p:nvSpPr>
        <p:spPr>
          <a:xfrm>
            <a:off x="10872216" y="528523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08/10</a:t>
            </a:r>
            <a:endParaRPr lang="en-US" sz="950" dirty="0"/>
          </a:p>
        </p:txBody>
      </p:sp>
      <p:sp>
        <p:nvSpPr>
          <p:cNvPr id="124" name="Shape 121"/>
          <p:cNvSpPr/>
          <p:nvPr/>
        </p:nvSpPr>
        <p:spPr>
          <a:xfrm>
            <a:off x="566928" y="5870448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125" name="Text 122"/>
          <p:cNvSpPr txBox="1"/>
          <p:nvPr/>
        </p:nvSpPr>
        <p:spPr>
          <a:xfrm>
            <a:off x="932688" y="5870448"/>
            <a:ext cx="10323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EM ÂMBAR   </a:t>
            </a:r>
            <a:pPr indent="0" marL="0">
              <a:buNone/>
            </a:pPr>
            <a:r>
              <a:rPr lang="en-US" sz="11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ainda em andamento</a:t>
            </a:r>
            <a:pPr indent="0" marL="0">
              <a:buNone/>
            </a:pPr>
            <a:r>
              <a:rPr lang="en-US" sz="900" b="1" spc="13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PERIODICIDADE   </a:t>
            </a:r>
            <a:pPr indent="0" marL="0">
              <a:buNone/>
            </a:pPr>
            <a:r>
              <a:rPr lang="en-US" sz="11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 nas duas carteiras N5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  ·   HORA A HORA  ·  N4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visão mais madura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353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métricas mapeadas e atualização 4x ao dia — 14 concluídas, só o P.A em aberto.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650224" y="45720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4544" y="612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N4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924544" y="8046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15 concluídas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924544" y="1152144"/>
            <a:ext cx="2423160" cy="9144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24544" y="1152144"/>
            <a:ext cx="2261616" cy="91440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1901952"/>
            <a:ext cx="5486400" cy="3401568"/>
          </a:xfrm>
          <a:prstGeom prst="roundRect">
            <a:avLst>
              <a:gd name="adj" fmla="val 29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" y="21214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138928" y="21214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8/9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53712" y="24140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5321808" y="241401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877824" y="2724912"/>
            <a:ext cx="109728" cy="109728"/>
          </a:xfrm>
          <a:prstGeom prst="ellipse">
            <a:avLst/>
          </a:prstGeom>
          <a:solidFill>
            <a:srgbClr val="E9A13B">
              <a:alpha val="35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78992" y="265176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53712" y="26517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321808" y="2651760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77824" y="2971800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78992" y="289864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trabalhados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553712" y="289864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321808" y="2898648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08/10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77824" y="3218688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078992" y="314553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finalizados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553712" y="314553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5321808" y="3145536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08/10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77824" y="3465576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78992" y="339242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553712" y="339242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5321808" y="3392424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08/10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77824" y="3712464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78992" y="363931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por tabulação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4553712" y="363931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321808" y="3639312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877824" y="3959352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078992" y="388620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fechados HxH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4553712" y="388620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5321808" y="3886200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77824" y="4206240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078992" y="413308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Fechados por célula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4553712" y="413308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5321808" y="4133088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877824" y="4453128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1078992" y="437997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por status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4553712" y="437997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5321808" y="4379976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877824" y="4700016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1078992" y="462686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e mês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4553712" y="462686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5321808" y="4626864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6373368" y="1901952"/>
            <a:ext cx="5248656" cy="1627632"/>
          </a:xfrm>
          <a:prstGeom prst="roundRect">
            <a:avLst>
              <a:gd name="adj" fmla="val 618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665976" y="212140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TEMPOS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10707624" y="21214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1300" dirty="0"/>
          </a:p>
        </p:txBody>
      </p:sp>
      <p:sp>
        <p:nvSpPr>
          <p:cNvPr id="55" name="Text 52"/>
          <p:cNvSpPr txBox="1"/>
          <p:nvPr/>
        </p:nvSpPr>
        <p:spPr>
          <a:xfrm>
            <a:off x="10122408" y="24140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10890504" y="241401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6684264" y="2724912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6885432" y="2651760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logado</a:t>
            </a:r>
            <a:endParaRPr lang="en-US" sz="1050" dirty="0"/>
          </a:p>
        </p:txBody>
      </p:sp>
      <p:sp>
        <p:nvSpPr>
          <p:cNvPr id="59" name="Text 56"/>
          <p:cNvSpPr txBox="1"/>
          <p:nvPr/>
        </p:nvSpPr>
        <p:spPr>
          <a:xfrm>
            <a:off x="10122408" y="26517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10890504" y="2651760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6684264" y="2971800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6885432" y="2898648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pausas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10122408" y="289864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10890504" y="2898648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6684264" y="3218688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6885432" y="3145536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 por tabulação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10122408" y="314553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900" dirty="0"/>
          </a:p>
        </p:txBody>
      </p:sp>
      <p:sp>
        <p:nvSpPr>
          <p:cNvPr id="68" name="Text 65"/>
          <p:cNvSpPr txBox="1"/>
          <p:nvPr/>
        </p:nvSpPr>
        <p:spPr>
          <a:xfrm>
            <a:off x="10890504" y="3145536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6373368" y="3675888"/>
            <a:ext cx="5248656" cy="1627632"/>
          </a:xfrm>
          <a:prstGeom prst="roundRect">
            <a:avLst>
              <a:gd name="adj" fmla="val 618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6665976" y="3895344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 %</a:t>
            </a:r>
            <a:endParaRPr lang="en-US" sz="950" dirty="0"/>
          </a:p>
        </p:txBody>
      </p:sp>
      <p:sp>
        <p:nvSpPr>
          <p:cNvPr id="71" name="Text 68"/>
          <p:cNvSpPr txBox="1"/>
          <p:nvPr/>
        </p:nvSpPr>
        <p:spPr>
          <a:xfrm>
            <a:off x="10707624" y="389534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1300" dirty="0"/>
          </a:p>
        </p:txBody>
      </p:sp>
      <p:sp>
        <p:nvSpPr>
          <p:cNvPr id="72" name="Text 69"/>
          <p:cNvSpPr txBox="1"/>
          <p:nvPr/>
        </p:nvSpPr>
        <p:spPr>
          <a:xfrm>
            <a:off x="10122408" y="41879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</a:t>
            </a:r>
            <a:endParaRPr lang="en-US" sz="700" dirty="0"/>
          </a:p>
        </p:txBody>
      </p:sp>
      <p:sp>
        <p:nvSpPr>
          <p:cNvPr id="73" name="Text 70"/>
          <p:cNvSpPr txBox="1"/>
          <p:nvPr/>
        </p:nvSpPr>
        <p:spPr>
          <a:xfrm>
            <a:off x="10890504" y="4187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endParaRPr lang="en-US" sz="700" dirty="0"/>
          </a:p>
        </p:txBody>
      </p:sp>
      <p:sp>
        <p:nvSpPr>
          <p:cNvPr id="74" name="Shape 71"/>
          <p:cNvSpPr/>
          <p:nvPr/>
        </p:nvSpPr>
        <p:spPr>
          <a:xfrm>
            <a:off x="6684264" y="4498848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6885432" y="4425696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/ PA</a:t>
            </a:r>
            <a:endParaRPr lang="en-US" sz="1050" dirty="0"/>
          </a:p>
        </p:txBody>
      </p:sp>
      <p:sp>
        <p:nvSpPr>
          <p:cNvPr id="76" name="Text 73"/>
          <p:cNvSpPr txBox="1"/>
          <p:nvPr/>
        </p:nvSpPr>
        <p:spPr>
          <a:xfrm>
            <a:off x="10122408" y="44256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77" name="Text 74"/>
          <p:cNvSpPr txBox="1"/>
          <p:nvPr/>
        </p:nvSpPr>
        <p:spPr>
          <a:xfrm>
            <a:off x="10890504" y="4425696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08/10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6684264" y="4745736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6885432" y="4672584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Finalizados / PA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10122408" y="46725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81" name="Text 78"/>
          <p:cNvSpPr txBox="1"/>
          <p:nvPr/>
        </p:nvSpPr>
        <p:spPr>
          <a:xfrm>
            <a:off x="10890504" y="4672584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08/10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6684264" y="4992624"/>
            <a:ext cx="109728" cy="1097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6885432" y="4919472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Reagendados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10122408" y="49194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Willyan</a:t>
            </a:r>
            <a:endParaRPr lang="en-US" sz="900" dirty="0"/>
          </a:p>
        </p:txBody>
      </p:sp>
      <p:sp>
        <p:nvSpPr>
          <p:cNvPr id="85" name="Text 82"/>
          <p:cNvSpPr txBox="1"/>
          <p:nvPr/>
        </p:nvSpPr>
        <p:spPr>
          <a:xfrm>
            <a:off x="10890504" y="4919472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08/10</a:t>
            </a:r>
            <a:endParaRPr lang="en-US" sz="950" dirty="0"/>
          </a:p>
        </p:txBody>
      </p:sp>
      <p:sp>
        <p:nvSpPr>
          <p:cNvPr id="86" name="Shape 83"/>
          <p:cNvSpPr/>
          <p:nvPr/>
        </p:nvSpPr>
        <p:spPr>
          <a:xfrm>
            <a:off x="566928" y="5449824"/>
            <a:ext cx="11055096" cy="987552"/>
          </a:xfrm>
          <a:prstGeom prst="roundRect">
            <a:avLst>
              <a:gd name="adj" fmla="val 9259"/>
            </a:avLst>
          </a:prstGeom>
          <a:solidFill>
            <a:srgbClr val="E9A13B">
              <a:alpha val="12000"/>
            </a:srgbClr>
          </a:solidFill>
          <a:ln w="20320">
            <a:solidFill>
              <a:srgbClr val="E9A13B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950976" y="5815584"/>
            <a:ext cx="274320" cy="27432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8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5879592"/>
            <a:ext cx="146304" cy="146304"/>
          </a:xfrm>
          <a:prstGeom prst="rect">
            <a:avLst/>
          </a:prstGeom>
        </p:spPr>
      </p:pic>
      <p:sp>
        <p:nvSpPr>
          <p:cNvPr id="89" name="Text 85"/>
          <p:cNvSpPr txBox="1"/>
          <p:nvPr/>
        </p:nvSpPr>
        <p:spPr>
          <a:xfrm>
            <a:off x="1353312" y="5449824"/>
            <a:ext cx="9866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4x ao dia, com 14 das 15 métricas prontas.  </a:t>
            </a:r>
            <a:pPr indent="0" marL="0">
              <a:buNone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carteira que já opera no modelo completo: volumetria por hora e por célula, status, tabulação, TMA e corte por semana e mês. O único item aberto é o P.A, que depende do cliente.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  ·   PROCESSOS RECORRENTES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opera cada rotina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353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rotinas em 3 carteiras — 3 concluídas, 7 em andamento e 5 pendentes de acesso externo.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650224" y="45720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4544" y="612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924544" y="8046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15 concluídas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924544" y="1152144"/>
            <a:ext cx="2423160" cy="9144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24544" y="1152144"/>
            <a:ext cx="484632" cy="91440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67328" y="19202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 PRÓ-ATIVOS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19202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 ONBOARDING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25712" y="19202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2231136"/>
            <a:ext cx="11055096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1507F">
                <a:alpha val="55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da apresentação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2578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  ·  N5 quartas, N4 terças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261104" y="2313432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D8E4F4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61104" y="23134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ACESSO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3767328" y="257860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  </a:t>
            </a:r>
            <a:pPr algn="ct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940296" y="2313432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D8E4F4">
                <a:alpha val="5000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40296" y="23134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ACESSO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6446520" y="257860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  </a:t>
            </a:r>
            <a:pPr algn="ct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619488" y="2313432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D8E4F4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19488" y="23134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ACESSO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9125712" y="257860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  </a:t>
            </a:r>
            <a:pPr algn="ct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66928" y="2944368"/>
            <a:ext cx="11055096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1507F">
                <a:alpha val="5500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1248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do HXH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" y="3291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 ·  KPI's Meli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261104" y="3026664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261104" y="30266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3767328" y="32918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Deyvid   </a:t>
            </a:r>
            <a:pPr algn="ct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940296" y="3026664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940296" y="30266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750" dirty="0"/>
          </a:p>
        </p:txBody>
      </p:sp>
      <p:sp>
        <p:nvSpPr>
          <p:cNvPr id="34" name="Text 31"/>
          <p:cNvSpPr txBox="1"/>
          <p:nvPr/>
        </p:nvSpPr>
        <p:spPr>
          <a:xfrm>
            <a:off x="6446520" y="32918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Andressa   </a:t>
            </a:r>
            <a:pPr algn="ct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9619488" y="3026664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E9A13B"/>
          </a:solidFill>
          <a:ln w="9525">
            <a:solidFill>
              <a:srgbClr val="E9A13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19488" y="30266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750" dirty="0"/>
          </a:p>
        </p:txBody>
      </p:sp>
      <p:sp>
        <p:nvSpPr>
          <p:cNvPr id="37" name="Text 34"/>
          <p:cNvSpPr txBox="1"/>
          <p:nvPr/>
        </p:nvSpPr>
        <p:spPr>
          <a:xfrm>
            <a:off x="9125712" y="32918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  </a:t>
            </a:r>
            <a:pPr algn="ct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66928" y="3657600"/>
            <a:ext cx="11055096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1507F">
                <a:alpha val="5500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41248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do HXH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841248" y="4005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 ·  KPI's Meli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261104" y="3739896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261104" y="373989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750" dirty="0"/>
          </a:p>
        </p:txBody>
      </p:sp>
      <p:sp>
        <p:nvSpPr>
          <p:cNvPr id="43" name="Text 40"/>
          <p:cNvSpPr txBox="1"/>
          <p:nvPr/>
        </p:nvSpPr>
        <p:spPr>
          <a:xfrm>
            <a:off x="3767328" y="4005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Deyvid   </a:t>
            </a:r>
            <a:pPr algn="ct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940296" y="3739896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940296" y="373989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6446520" y="4005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Andressa   </a:t>
            </a:r>
            <a:pPr algn="ct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9619488" y="3739896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E9A13B"/>
          </a:solidFill>
          <a:ln w="9525">
            <a:solidFill>
              <a:srgbClr val="E9A13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619488" y="373989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750" dirty="0"/>
          </a:p>
        </p:txBody>
      </p:sp>
      <p:sp>
        <p:nvSpPr>
          <p:cNvPr id="49" name="Text 46"/>
          <p:cNvSpPr txBox="1"/>
          <p:nvPr/>
        </p:nvSpPr>
        <p:spPr>
          <a:xfrm>
            <a:off x="9125712" y="4005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  </a:t>
            </a:r>
            <a:pPr algn="ct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66928" y="4370832"/>
            <a:ext cx="11055096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1507F">
                <a:alpha val="55000"/>
              </a:srgbClr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41248" y="4443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dos dados e insights</a:t>
            </a:r>
            <a:endParaRPr lang="en-US" sz="1150" dirty="0"/>
          </a:p>
        </p:txBody>
      </p:sp>
      <p:sp>
        <p:nvSpPr>
          <p:cNvPr id="52" name="Text 49"/>
          <p:cNvSpPr txBox="1"/>
          <p:nvPr/>
        </p:nvSpPr>
        <p:spPr>
          <a:xfrm>
            <a:off x="841248" y="47183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 ·  KPI's Meli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261104" y="4453128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D8E4F4">
                <a:alpha val="5000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261104" y="44531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ACESSO</a:t>
            </a:r>
            <a:endParaRPr lang="en-US" sz="750" dirty="0"/>
          </a:p>
        </p:txBody>
      </p:sp>
      <p:sp>
        <p:nvSpPr>
          <p:cNvPr id="55" name="Text 52"/>
          <p:cNvSpPr txBox="1"/>
          <p:nvPr/>
        </p:nvSpPr>
        <p:spPr>
          <a:xfrm>
            <a:off x="3767328" y="471830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Deyvid   </a:t>
            </a:r>
            <a:pPr algn="ct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6940296" y="4453128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D8E4F4">
                <a:alpha val="50000"/>
              </a:srgbClr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940296" y="44531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ACESSO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6446520" y="471830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Andressa   </a:t>
            </a:r>
            <a:pPr algn="ct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9619488" y="4453128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E9A13B"/>
          </a:solidFill>
          <a:ln w="9525">
            <a:solidFill>
              <a:srgbClr val="E9A13B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619488" y="44531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750" dirty="0"/>
          </a:p>
        </p:txBody>
      </p:sp>
      <p:sp>
        <p:nvSpPr>
          <p:cNvPr id="61" name="Text 58"/>
          <p:cNvSpPr txBox="1"/>
          <p:nvPr/>
        </p:nvSpPr>
        <p:spPr>
          <a:xfrm>
            <a:off x="9125712" y="471830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  </a:t>
            </a:r>
            <a:pPr algn="ctr" indent="0" marL="0">
              <a:buNone/>
            </a:pPr>
            <a:r>
              <a:rPr lang="en-US" sz="95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566928" y="5084064"/>
            <a:ext cx="11055096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1507F">
                <a:alpha val="55000"/>
              </a:srgbClr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41248" y="5157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fila</a:t>
            </a:r>
            <a:endParaRPr lang="en-US" sz="1150" dirty="0"/>
          </a:p>
        </p:txBody>
      </p:sp>
      <p:sp>
        <p:nvSpPr>
          <p:cNvPr id="64" name="Text 61"/>
          <p:cNvSpPr txBox="1"/>
          <p:nvPr/>
        </p:nvSpPr>
        <p:spPr>
          <a:xfrm>
            <a:off x="841248" y="54315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 ·  CX One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4261104" y="5166360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4261104" y="51663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750" dirty="0"/>
          </a:p>
        </p:txBody>
      </p:sp>
      <p:sp>
        <p:nvSpPr>
          <p:cNvPr id="67" name="Text 64"/>
          <p:cNvSpPr txBox="1"/>
          <p:nvPr/>
        </p:nvSpPr>
        <p:spPr>
          <a:xfrm>
            <a:off x="3767328" y="5431536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  </a:t>
            </a:r>
            <a:pPr algn="ct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6940296" y="5166360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6940296" y="51663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750" dirty="0"/>
          </a:p>
        </p:txBody>
      </p:sp>
      <p:sp>
        <p:nvSpPr>
          <p:cNvPr id="70" name="Text 67"/>
          <p:cNvSpPr txBox="1"/>
          <p:nvPr/>
        </p:nvSpPr>
        <p:spPr>
          <a:xfrm>
            <a:off x="6446520" y="5431536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  </a:t>
            </a:r>
            <a:pPr algn="ct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9619488" y="5166360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9619488" y="51663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750" dirty="0"/>
          </a:p>
        </p:txBody>
      </p:sp>
      <p:sp>
        <p:nvSpPr>
          <p:cNvPr id="73" name="Text 70"/>
          <p:cNvSpPr txBox="1"/>
          <p:nvPr/>
        </p:nvSpPr>
        <p:spPr>
          <a:xfrm>
            <a:off x="9125712" y="5431536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  </a:t>
            </a:r>
            <a:pPr algn="ctr" indent="0" marL="0">
              <a:buNone/>
            </a:pPr>
            <a:r>
              <a:rPr lang="en-US" sz="9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566928" y="5943600"/>
            <a:ext cx="11055096" cy="841248"/>
          </a:xfrm>
          <a:prstGeom prst="roundRect">
            <a:avLst>
              <a:gd name="adj" fmla="val 9783"/>
            </a:avLst>
          </a:prstGeom>
          <a:solidFill>
            <a:srgbClr val="E9A13B">
              <a:alpha val="11000"/>
            </a:srgbClr>
          </a:solidFill>
          <a:ln w="17780">
            <a:solidFill>
              <a:srgbClr val="E9A13B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932688" y="6236208"/>
            <a:ext cx="256032" cy="256032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7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6300216"/>
            <a:ext cx="128016" cy="128016"/>
          </a:xfrm>
          <a:prstGeom prst="rect">
            <a:avLst/>
          </a:prstGeom>
        </p:spPr>
      </p:pic>
      <p:sp>
        <p:nvSpPr>
          <p:cNvPr id="77" name="Text 73"/>
          <p:cNvSpPr txBox="1"/>
          <p:nvPr/>
        </p:nvSpPr>
        <p:spPr>
          <a:xfrm>
            <a:off x="1298448" y="5943600"/>
            <a:ext cx="9957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acesso externo é o que destrava 5 das 15 rotinas.  </a:t>
            </a:r>
            <a:pPr indent="0" marL="0">
              <a:buNone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preenchimento para a apresentação semanal e a análise de insights das duas carteiras N5 dependem do acesso aos KPI's Meli.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  ·   REUNIÕES DE ALINHAMENTO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Frentes em aberto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353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frentes acordadas nos alinhamentos — prazos entre 09 e 13/10.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650224" y="45720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4544" y="612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MARCO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924544" y="7863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 frentes com prazo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924544" y="10972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Aging: 09/10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" y="1901952"/>
            <a:ext cx="5426964" cy="1188720"/>
          </a:xfrm>
          <a:prstGeom prst="roundRect">
            <a:avLst>
              <a:gd name="adj" fmla="val 846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2139696"/>
            <a:ext cx="365760" cy="36576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23113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16736" y="2121408"/>
            <a:ext cx="3278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de resultados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22292" y="2157984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D8E4F4">
                <a:alpha val="5000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622292" y="21579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EXT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841248" y="2505456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semanal às quintas-feiras, com os dados já consolidados.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95060" y="1901952"/>
            <a:ext cx="5426964" cy="1188720"/>
          </a:xfrm>
          <a:prstGeom prst="roundRect">
            <a:avLst>
              <a:gd name="adj" fmla="val 846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69380" y="2139696"/>
            <a:ext cx="365760" cy="36576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231136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44868" y="2121408"/>
            <a:ext cx="3278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Dimensionamento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0250424" y="2157984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0250424" y="21579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13/10</a:t>
            </a:r>
            <a:endParaRPr lang="en-US" sz="750" dirty="0"/>
          </a:p>
        </p:txBody>
      </p:sp>
      <p:sp>
        <p:nvSpPr>
          <p:cNvPr id="23" name="Text 18"/>
          <p:cNvSpPr txBox="1"/>
          <p:nvPr/>
        </p:nvSpPr>
        <p:spPr>
          <a:xfrm>
            <a:off x="6469380" y="2505456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entrante + backlog. Avaliar os dados nesta semana e movimentar a partir da próxima.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66928" y="3291840"/>
            <a:ext cx="5426964" cy="1188720"/>
          </a:xfrm>
          <a:prstGeom prst="roundRect">
            <a:avLst>
              <a:gd name="adj" fmla="val 846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41248" y="3529584"/>
            <a:ext cx="365760" cy="36576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621024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316736" y="3511296"/>
            <a:ext cx="3278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Pró-Ativos  ·  dados manuais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622292" y="3547872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622292" y="3547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13/10</a:t>
            </a:r>
            <a:endParaRPr lang="en-US" sz="750" dirty="0"/>
          </a:p>
        </p:txBody>
      </p:sp>
      <p:sp>
        <p:nvSpPr>
          <p:cNvPr id="30" name="Text 24"/>
          <p:cNvSpPr txBox="1"/>
          <p:nvPr/>
        </p:nvSpPr>
        <p:spPr>
          <a:xfrm>
            <a:off x="841248" y="3895344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aprofunda na carteira, analisa as planilhas do Deyvid e desenha o processo de acompanhamento, com visão de catálogo.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6195060" y="3291840"/>
            <a:ext cx="5426964" cy="1188720"/>
          </a:xfrm>
          <a:prstGeom prst="roundRect">
            <a:avLst>
              <a:gd name="adj" fmla="val 846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469380" y="3529584"/>
            <a:ext cx="365760" cy="36576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3621024"/>
            <a:ext cx="182880" cy="18288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944868" y="3511296"/>
            <a:ext cx="3278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 ·  dados manuais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10250424" y="3547872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10250424" y="3547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13/10</a:t>
            </a:r>
            <a:endParaRPr lang="en-US" sz="750" dirty="0"/>
          </a:p>
        </p:txBody>
      </p:sp>
      <p:sp>
        <p:nvSpPr>
          <p:cNvPr id="37" name="Text 30"/>
          <p:cNvSpPr txBox="1"/>
          <p:nvPr/>
        </p:nvSpPr>
        <p:spPr>
          <a:xfrm>
            <a:off x="6469380" y="3895344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com a Andressa e desenho do fluxo com operações para controlar o preenchimento da planilha pelos agentes.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566928" y="4681728"/>
            <a:ext cx="5426964" cy="1188720"/>
          </a:xfrm>
          <a:prstGeom prst="roundRect">
            <a:avLst>
              <a:gd name="adj" fmla="val 846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41248" y="4919472"/>
            <a:ext cx="365760" cy="36576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010912"/>
            <a:ext cx="182880" cy="18288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316736" y="4901184"/>
            <a:ext cx="3278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de catálogo  ·  CRM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4622292" y="493776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4622292" y="4937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ESTUDO</a:t>
            </a:r>
            <a:endParaRPr lang="en-US" sz="750" dirty="0"/>
          </a:p>
        </p:txBody>
      </p:sp>
      <p:sp>
        <p:nvSpPr>
          <p:cNvPr id="44" name="Text 36"/>
          <p:cNvSpPr txBox="1"/>
          <p:nvPr/>
        </p:nvSpPr>
        <p:spPr>
          <a:xfrm>
            <a:off x="841248" y="5285232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da base, separação por vendor e definição da prioridade de tratativa.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195060" y="4681728"/>
            <a:ext cx="5426964" cy="1188720"/>
          </a:xfrm>
          <a:prstGeom prst="roundRect">
            <a:avLst>
              <a:gd name="adj" fmla="val 846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469380" y="4919472"/>
            <a:ext cx="365760" cy="36576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0820" y="5010912"/>
            <a:ext cx="182880" cy="182880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6944868" y="4901184"/>
            <a:ext cx="3278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por frente de atuação + aging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10250424" y="493776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10250424" y="4937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13/10  ·  09/10</a:t>
            </a:r>
            <a:endParaRPr lang="en-US" sz="750" dirty="0"/>
          </a:p>
        </p:txBody>
      </p:sp>
      <p:sp>
        <p:nvSpPr>
          <p:cNvPr id="51" name="Text 42"/>
          <p:cNvSpPr txBox="1"/>
          <p:nvPr/>
        </p:nvSpPr>
        <p:spPr>
          <a:xfrm>
            <a:off x="6469380" y="5285232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por frente, não consolidada, com foco no aging de 5 dias sem atuação. Visão de frentes a desenvolver; aging já construído, aguarda EXT para validar.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566928" y="6108192"/>
            <a:ext cx="11055096" cy="658368"/>
          </a:xfrm>
          <a:prstGeom prst="roundRect">
            <a:avLst>
              <a:gd name="adj" fmla="val 125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932688" y="6108192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DAS FRENTES    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  </a:t>
            </a:r>
            <a:pPr indent="0" marL="0">
              <a:buNone/>
            </a:pPr>
            <a:r>
              <a:rPr lang="en-US" sz="11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Full, Inbound e P2P      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   </a:t>
            </a:r>
            <a:pPr indent="0" marL="0">
              <a:buNone/>
            </a:pPr>
            <a:r>
              <a:rPr lang="en-US" sz="11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(2 frentes) e Pró-Ativos (9 frentes)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8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  ·   EVOLUÇÕES DO DASHBOARD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foi entregue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353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melhorias pedidas no alinhamento — 7 entregues, 2 validadas em conceito e 1 em andamento.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650224" y="45720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4544" y="612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924544" y="8046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10 concluídas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924544" y="1152144"/>
            <a:ext cx="2423160" cy="9144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24544" y="1152144"/>
            <a:ext cx="2180844" cy="91440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1938528"/>
            <a:ext cx="5426964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9A13B">
                <a:alpha val="6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130552"/>
            <a:ext cx="292608" cy="29260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199132"/>
            <a:ext cx="155448" cy="1554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25296" y="2066544"/>
            <a:ext cx="3415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Volumetria de casos fechados por hora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1225296" y="2304288"/>
            <a:ext cx="3415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evolução dia a dia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94860" y="2157984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E9A13B"/>
          </a:solidFill>
          <a:ln w="9525">
            <a:solidFill>
              <a:srgbClr val="E9A13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94860" y="215798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566928" y="2724912"/>
            <a:ext cx="5426964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9A13B">
                <a:alpha val="6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" y="2916936"/>
            <a:ext cx="292608" cy="29260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985516"/>
            <a:ext cx="155448" cy="1554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25296" y="2724912"/>
            <a:ext cx="34152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Volumetria e % de casos fechados por célula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594860" y="2944368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E9A13B"/>
          </a:solidFill>
          <a:ln w="9525">
            <a:solidFill>
              <a:srgbClr val="E9A13B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594860" y="294436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566928" y="3511296"/>
            <a:ext cx="5426964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9A13B">
                <a:alpha val="60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22960" y="3703320"/>
            <a:ext cx="292608" cy="29260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771900"/>
            <a:ext cx="155448" cy="15544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25296" y="3639312"/>
            <a:ext cx="3415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status dos tickets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1225296" y="3877056"/>
            <a:ext cx="3415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que foi fechado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594860" y="3730752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E9A13B"/>
          </a:solidFill>
          <a:ln w="9525">
            <a:solidFill>
              <a:srgbClr val="E9A13B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594860" y="37307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566928" y="4297680"/>
            <a:ext cx="5426964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9A13B">
                <a:alpha val="6000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22960" y="4489704"/>
            <a:ext cx="292608" cy="29260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558284"/>
            <a:ext cx="155448" cy="15544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225296" y="4425696"/>
            <a:ext cx="3415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online de N4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1225296" y="4663440"/>
            <a:ext cx="3415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acesso do Plan no CXOne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4594860" y="4517136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E9A13B"/>
          </a:solidFill>
          <a:ln w="9525">
            <a:solidFill>
              <a:srgbClr val="E9A13B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4594860" y="451713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566928" y="5084064"/>
            <a:ext cx="5426964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9A13B">
                <a:alpha val="6000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22960" y="5276088"/>
            <a:ext cx="292608" cy="29260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5344668"/>
            <a:ext cx="155448" cy="155448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225296" y="5084064"/>
            <a:ext cx="34152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por semana e ano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4594860" y="5303520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E9A13B"/>
          </a:solidFill>
          <a:ln w="9525">
            <a:solidFill>
              <a:srgbClr val="E9A13B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4594860" y="53035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750" dirty="0"/>
          </a:p>
        </p:txBody>
      </p:sp>
      <p:sp>
        <p:nvSpPr>
          <p:cNvPr id="44" name="Shape 36"/>
          <p:cNvSpPr/>
          <p:nvPr/>
        </p:nvSpPr>
        <p:spPr>
          <a:xfrm>
            <a:off x="6195060" y="1938528"/>
            <a:ext cx="5426964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9A13B">
                <a:alpha val="60000"/>
              </a:srgbClr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6451092" y="2130552"/>
            <a:ext cx="292608" cy="29260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2199132"/>
            <a:ext cx="155448" cy="155448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6853428" y="1938528"/>
            <a:ext cx="34152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tabulação dos casos tratados</a:t>
            </a:r>
            <a:endParaRPr lang="en-US" sz="1150" dirty="0"/>
          </a:p>
        </p:txBody>
      </p:sp>
      <p:sp>
        <p:nvSpPr>
          <p:cNvPr id="48" name="Shape 39"/>
          <p:cNvSpPr/>
          <p:nvPr/>
        </p:nvSpPr>
        <p:spPr>
          <a:xfrm>
            <a:off x="10222992" y="2157984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E9A13B"/>
          </a:solidFill>
          <a:ln w="9525">
            <a:solidFill>
              <a:srgbClr val="E9A13B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10222992" y="215798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750" dirty="0"/>
          </a:p>
        </p:txBody>
      </p:sp>
      <p:sp>
        <p:nvSpPr>
          <p:cNvPr id="50" name="Shape 41"/>
          <p:cNvSpPr/>
          <p:nvPr/>
        </p:nvSpPr>
        <p:spPr>
          <a:xfrm>
            <a:off x="6195060" y="2724912"/>
            <a:ext cx="5426964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9A13B">
                <a:alpha val="60000"/>
              </a:srgbClr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6451092" y="2916936"/>
            <a:ext cx="292608" cy="292608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2985516"/>
            <a:ext cx="155448" cy="155448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6853428" y="2852928"/>
            <a:ext cx="3415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 e recebimento por categoria</a:t>
            </a:r>
            <a:endParaRPr lang="en-US" sz="1150" dirty="0"/>
          </a:p>
        </p:txBody>
      </p:sp>
      <p:sp>
        <p:nvSpPr>
          <p:cNvPr id="54" name="Text 44"/>
          <p:cNvSpPr txBox="1"/>
          <p:nvPr/>
        </p:nvSpPr>
        <p:spPr>
          <a:xfrm>
            <a:off x="6853428" y="3090672"/>
            <a:ext cx="3415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abertos na visão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10222992" y="2944368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E9A13B"/>
          </a:solidFill>
          <a:ln w="9525">
            <a:solidFill>
              <a:srgbClr val="E9A13B"/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10222992" y="294436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750" dirty="0"/>
          </a:p>
        </p:txBody>
      </p:sp>
      <p:sp>
        <p:nvSpPr>
          <p:cNvPr id="57" name="Shape 47"/>
          <p:cNvSpPr/>
          <p:nvPr/>
        </p:nvSpPr>
        <p:spPr>
          <a:xfrm>
            <a:off x="6195060" y="3511296"/>
            <a:ext cx="5426964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1507F">
                <a:alpha val="55000"/>
              </a:srgbClr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6451092" y="3703320"/>
            <a:ext cx="292608" cy="292608"/>
          </a:xfrm>
          <a:prstGeom prst="ellipse">
            <a:avLst/>
          </a:prstGeom>
          <a:solidFill>
            <a:srgbClr val="E9A13B">
              <a:alpha val="55000"/>
            </a:srgbClr>
          </a:solidFill>
          <a:ln/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3771900"/>
            <a:ext cx="155448" cy="155448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6853428" y="3511296"/>
            <a:ext cx="34152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 apenas de quem trabalhou na fila</a:t>
            </a:r>
            <a:endParaRPr lang="en-US" sz="1150" dirty="0"/>
          </a:p>
        </p:txBody>
      </p:sp>
      <p:sp>
        <p:nvSpPr>
          <p:cNvPr id="61" name="Shape 50"/>
          <p:cNvSpPr/>
          <p:nvPr/>
        </p:nvSpPr>
        <p:spPr>
          <a:xfrm>
            <a:off x="10222992" y="3730752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10222992" y="37307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750" dirty="0"/>
          </a:p>
        </p:txBody>
      </p:sp>
      <p:sp>
        <p:nvSpPr>
          <p:cNvPr id="63" name="Shape 52"/>
          <p:cNvSpPr/>
          <p:nvPr/>
        </p:nvSpPr>
        <p:spPr>
          <a:xfrm>
            <a:off x="6195060" y="4297680"/>
            <a:ext cx="5426964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1507F">
                <a:alpha val="55000"/>
              </a:srgbClr>
            </a:solidFill>
            <a:prstDash val="solid"/>
          </a:ln>
        </p:spPr>
      </p:sp>
      <p:sp>
        <p:nvSpPr>
          <p:cNvPr id="64" name="Shape 53"/>
          <p:cNvSpPr/>
          <p:nvPr/>
        </p:nvSpPr>
        <p:spPr>
          <a:xfrm>
            <a:off x="6451092" y="4489704"/>
            <a:ext cx="292608" cy="292608"/>
          </a:xfrm>
          <a:prstGeom prst="ellipse">
            <a:avLst/>
          </a:prstGeom>
          <a:solidFill>
            <a:srgbClr val="E9A13B">
              <a:alpha val="55000"/>
            </a:srgbClr>
          </a:solidFill>
          <a:ln/>
        </p:spPr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9672" y="4558284"/>
            <a:ext cx="155448" cy="155448"/>
          </a:xfrm>
          <a:prstGeom prst="rect">
            <a:avLst/>
          </a:prstGeom>
        </p:spPr>
      </p:pic>
      <p:sp>
        <p:nvSpPr>
          <p:cNvPr id="66" name="Text 54"/>
          <p:cNvSpPr txBox="1"/>
          <p:nvPr/>
        </p:nvSpPr>
        <p:spPr>
          <a:xfrm>
            <a:off x="6853428" y="4297680"/>
            <a:ext cx="34152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operador já logado</a:t>
            </a:r>
            <a:endParaRPr lang="en-US" sz="1150" dirty="0"/>
          </a:p>
        </p:txBody>
      </p:sp>
      <p:sp>
        <p:nvSpPr>
          <p:cNvPr id="67" name="Shape 55"/>
          <p:cNvSpPr/>
          <p:nvPr/>
        </p:nvSpPr>
        <p:spPr>
          <a:xfrm>
            <a:off x="10222992" y="4517136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68" name="Text 56"/>
          <p:cNvSpPr txBox="1"/>
          <p:nvPr/>
        </p:nvSpPr>
        <p:spPr>
          <a:xfrm>
            <a:off x="10222992" y="451713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750" dirty="0"/>
          </a:p>
        </p:txBody>
      </p:sp>
      <p:sp>
        <p:nvSpPr>
          <p:cNvPr id="69" name="Shape 57"/>
          <p:cNvSpPr/>
          <p:nvPr/>
        </p:nvSpPr>
        <p:spPr>
          <a:xfrm>
            <a:off x="6195060" y="5084064"/>
            <a:ext cx="5426964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1507F">
                <a:alpha val="55000"/>
              </a:srgbClr>
            </a:solidFill>
            <a:prstDash val="solid"/>
          </a:ln>
        </p:spPr>
      </p:sp>
      <p:sp>
        <p:nvSpPr>
          <p:cNvPr id="70" name="Shape 58"/>
          <p:cNvSpPr/>
          <p:nvPr/>
        </p:nvSpPr>
        <p:spPr>
          <a:xfrm>
            <a:off x="6451092" y="5276088"/>
            <a:ext cx="292608" cy="292608"/>
          </a:xfrm>
          <a:prstGeom prst="ellipse">
            <a:avLst/>
          </a:prstGeom>
          <a:solidFill>
            <a:srgbClr val="E9A13B">
              <a:alpha val="55000"/>
            </a:srgbClr>
          </a:solidFill>
          <a:ln/>
        </p:spPr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9672" y="5344668"/>
            <a:ext cx="155448" cy="155448"/>
          </a:xfrm>
          <a:prstGeom prst="rect">
            <a:avLst/>
          </a:prstGeom>
        </p:spPr>
      </p:pic>
      <p:sp>
        <p:nvSpPr>
          <p:cNvPr id="72" name="Text 59"/>
          <p:cNvSpPr txBox="1"/>
          <p:nvPr/>
        </p:nvSpPr>
        <p:spPr>
          <a:xfrm>
            <a:off x="6853428" y="5212080"/>
            <a:ext cx="3415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para migração entre filas</a:t>
            </a:r>
            <a:endParaRPr lang="en-US" sz="1150" dirty="0"/>
          </a:p>
        </p:txBody>
      </p:sp>
      <p:sp>
        <p:nvSpPr>
          <p:cNvPr id="73" name="Text 60"/>
          <p:cNvSpPr txBox="1"/>
          <p:nvPr/>
        </p:nvSpPr>
        <p:spPr>
          <a:xfrm>
            <a:off x="6853428" y="5449824"/>
            <a:ext cx="3415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aberta</a:t>
            </a:r>
            <a:endParaRPr lang="en-US" sz="900" dirty="0"/>
          </a:p>
        </p:txBody>
      </p:sp>
      <p:sp>
        <p:nvSpPr>
          <p:cNvPr id="74" name="Shape 61"/>
          <p:cNvSpPr/>
          <p:nvPr/>
        </p:nvSpPr>
        <p:spPr>
          <a:xfrm>
            <a:off x="10222992" y="5303520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9A13B">
                <a:alpha val="50000"/>
              </a:srgbClr>
            </a:solidFill>
            <a:prstDash val="solid"/>
          </a:ln>
        </p:spPr>
      </p:sp>
      <p:sp>
        <p:nvSpPr>
          <p:cNvPr id="75" name="Text 62"/>
          <p:cNvSpPr txBox="1"/>
          <p:nvPr/>
        </p:nvSpPr>
        <p:spPr>
          <a:xfrm>
            <a:off x="10222992" y="53035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750" dirty="0"/>
          </a:p>
        </p:txBody>
      </p:sp>
      <p:sp>
        <p:nvSpPr>
          <p:cNvPr id="76" name="Shape 63"/>
          <p:cNvSpPr/>
          <p:nvPr/>
        </p:nvSpPr>
        <p:spPr>
          <a:xfrm>
            <a:off x="566928" y="5925312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77" name="Text 64"/>
          <p:cNvSpPr txBox="1"/>
          <p:nvPr/>
        </p:nvSpPr>
        <p:spPr>
          <a:xfrm>
            <a:off x="932688" y="5925312"/>
            <a:ext cx="10323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  </a:t>
            </a:r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validada, implementação na sequência.        </a:t>
            </a:r>
            <a:pPr indent="0" marL="0">
              <a:buNone/>
            </a:pPr>
            <a:r>
              <a:rPr lang="en-US" sz="900" b="1" spc="13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   </a:t>
            </a:r>
            <a:pPr indent="0" marL="0">
              <a:buNone/>
            </a:pPr>
            <a:r>
              <a:rPr lang="en-US" sz="10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entre filas aguarda liberação de acesso.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— ganhos e PMO</dc:title>
  <dc:subject>PptxGenJS Presentation</dc:subject>
  <dc:creator>Planejamento</dc:creator>
  <cp:lastModifiedBy>Planejamento</cp:lastModifiedBy>
  <cp:revision>1</cp:revision>
  <dcterms:created xsi:type="dcterms:W3CDTF">2026-10-05T22:23:02Z</dcterms:created>
  <dcterms:modified xsi:type="dcterms:W3CDTF">2026-10-05T22:23:02Z</dcterms:modified>
</cp:coreProperties>
</file>