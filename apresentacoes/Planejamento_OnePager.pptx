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One-pager. A operação sai do trabalho de tratar arquivo e volta o foco para os analistas e o dia a dia. O Planejamento passa a recepcionar os arquivos, fazer as tratativas, distribuir para a operação, consolidar, validar e disponibilizar a base oficial para o ML construir os KPIs. Por atuar em toda a cadeia, também devolve leitura consultiva: gargalos, oportunidades, o que já funciona bem e recomendações sustentadas em dado — visão micro do processo, não o número bruto.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" y="402336"/>
            <a:ext cx="11237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MODELO DE ATUAÇÃO   ·   RUBENS HIPÓLITO   ·   PLANEJAMENTO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75488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assume o dado </a:t>
            </a:r>
            <a:pPr indent="0" marL="0">
              <a:buNone/>
            </a:pPr>
            <a:r>
              <a:rPr lang="en-US" sz="3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ponta a ponta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75488" y="12984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foca no dia a dia — analistas e atividades. O dado ganha um único dono, da origem ao indicador.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75488" y="1737360"/>
            <a:ext cx="5545836" cy="256032"/>
          </a:xfrm>
          <a:prstGeom prst="roundRect">
            <a:avLst>
              <a:gd name="adj" fmla="val 21429"/>
            </a:avLst>
          </a:prstGeom>
          <a:solidFill>
            <a:srgbClr val="E9A13B">
              <a:alpha val="12000"/>
            </a:srgbClr>
          </a:solidFill>
          <a:ln w="9525">
            <a:solidFill>
              <a:srgbClr val="E9A13B">
                <a:alpha val="4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5488" y="1737360"/>
            <a:ext cx="5545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67628" y="1737360"/>
            <a:ext cx="1751076" cy="256032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67628" y="1737360"/>
            <a:ext cx="1751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065008" y="1737360"/>
            <a:ext cx="1751076" cy="256032"/>
          </a:xfrm>
          <a:prstGeom prst="roundRect">
            <a:avLst>
              <a:gd name="adj" fmla="val 21429"/>
            </a:avLst>
          </a:prstGeom>
          <a:solidFill>
            <a:srgbClr val="E9A13B">
              <a:alpha val="12000"/>
            </a:srgbClr>
          </a:solidFill>
          <a:ln w="9525">
            <a:solidFill>
              <a:srgbClr val="E9A13B">
                <a:alpha val="45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65008" y="1737360"/>
            <a:ext cx="1751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962388" y="1737360"/>
            <a:ext cx="1751076" cy="256032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962388" y="1737360"/>
            <a:ext cx="1751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78408" y="2615184"/>
            <a:ext cx="9486900" cy="18288"/>
          </a:xfrm>
          <a:prstGeom prst="rect">
            <a:avLst/>
          </a:prstGeom>
          <a:solidFill>
            <a:srgbClr val="31507F"/>
          </a:solidFill>
          <a:ln/>
        </p:spPr>
      </p:sp>
      <p:sp>
        <p:nvSpPr>
          <p:cNvPr id="15" name="Shape 12"/>
          <p:cNvSpPr/>
          <p:nvPr/>
        </p:nvSpPr>
        <p:spPr>
          <a:xfrm>
            <a:off x="475488" y="2121408"/>
            <a:ext cx="1751076" cy="1773936"/>
          </a:xfrm>
          <a:prstGeom prst="roundRect">
            <a:avLst>
              <a:gd name="adj" fmla="val 52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  <a:effectLst>
            <a:outerShdw sx="100000" sy="100000" kx="0" ky="0" algn="bl" rotWithShape="0" blurRad="152400" dist="38100" dir="5400000">
              <a:srgbClr val="030913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3232" y="2350008"/>
            <a:ext cx="530352" cy="530352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2491740"/>
            <a:ext cx="246888" cy="24688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13232" y="3008376"/>
            <a:ext cx="142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713232" y="3273552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os arquivos e as bases de origem.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372868" y="2121408"/>
            <a:ext cx="1751076" cy="1773936"/>
          </a:xfrm>
          <a:prstGeom prst="roundRect">
            <a:avLst>
              <a:gd name="adj" fmla="val 52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  <a:effectLst>
            <a:outerShdw sx="100000" sy="100000" kx="0" ky="0" algn="bl" rotWithShape="0" blurRad="152400" dist="38100" dir="5400000">
              <a:srgbClr val="030913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610612" y="2350008"/>
            <a:ext cx="530352" cy="530352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2491740"/>
            <a:ext cx="246888" cy="24688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610612" y="3008376"/>
            <a:ext cx="142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TRATATIVA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2610612" y="3273552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as regras e padroniza a informação.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270248" y="2121408"/>
            <a:ext cx="1751076" cy="1773936"/>
          </a:xfrm>
          <a:prstGeom prst="roundRect">
            <a:avLst>
              <a:gd name="adj" fmla="val 52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  <a:effectLst>
            <a:outerShdw sx="100000" sy="100000" kx="0" ky="0" algn="bl" rotWithShape="0" blurRad="152400" dist="38100" dir="5400000">
              <a:srgbClr val="030913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07992" y="2350008"/>
            <a:ext cx="530352" cy="530352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2491740"/>
            <a:ext cx="246888" cy="24688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507992" y="3008376"/>
            <a:ext cx="142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4507992" y="3273552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 à operação o que exige ação.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6167628" y="2121408"/>
            <a:ext cx="1751076" cy="1773936"/>
          </a:xfrm>
          <a:prstGeom prst="roundRect">
            <a:avLst>
              <a:gd name="adj" fmla="val 5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30913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405372" y="2350008"/>
            <a:ext cx="530352" cy="530352"/>
          </a:xfrm>
          <a:prstGeom prst="ellipse">
            <a:avLst/>
          </a:prstGeom>
          <a:solidFill>
            <a:srgbClr val="12203A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2491740"/>
            <a:ext cx="246888" cy="24688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405372" y="3008376"/>
            <a:ext cx="142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6405372" y="3273552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5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atua nas demandas do dia a dia.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8065008" y="2121408"/>
            <a:ext cx="1751076" cy="1773936"/>
          </a:xfrm>
          <a:prstGeom prst="roundRect">
            <a:avLst>
              <a:gd name="adj" fmla="val 52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  <a:effectLst>
            <a:outerShdw sx="100000" sy="100000" kx="0" ky="0" algn="bl" rotWithShape="0" blurRad="152400" dist="38100" dir="5400000">
              <a:srgbClr val="030913">
                <a:alpha val="3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302752" y="2350008"/>
            <a:ext cx="530352" cy="530352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484" y="2491740"/>
            <a:ext cx="246888" cy="24688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302752" y="3008376"/>
            <a:ext cx="142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8302752" y="3273552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o retorno, valida e fecha a base.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9962388" y="2121408"/>
            <a:ext cx="1751076" cy="1773936"/>
          </a:xfrm>
          <a:prstGeom prst="roundRect">
            <a:avLst>
              <a:gd name="adj" fmla="val 5222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  <a:effectLst>
            <a:outerShdw sx="100000" sy="100000" kx="0" ky="0" algn="bl" rotWithShape="0" blurRad="152400" dist="38100" dir="5400000">
              <a:srgbClr val="030913">
                <a:alpha val="3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10200132" y="2350008"/>
            <a:ext cx="530352" cy="530352"/>
          </a:xfrm>
          <a:prstGeom prst="ellipse">
            <a:avLst/>
          </a:prstGeom>
          <a:solidFill>
            <a:srgbClr val="12203A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1864" y="2491740"/>
            <a:ext cx="246888" cy="24688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0200132" y="3008376"/>
            <a:ext cx="142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50" dirty="0"/>
          </a:p>
        </p:txBody>
      </p:sp>
      <p:sp>
        <p:nvSpPr>
          <p:cNvPr id="44" name="Text 35"/>
          <p:cNvSpPr txBox="1"/>
          <p:nvPr/>
        </p:nvSpPr>
        <p:spPr>
          <a:xfrm>
            <a:off x="10200132" y="3273552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5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oficial pronta para os indicadores.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475488" y="4078224"/>
            <a:ext cx="3063240" cy="1801368"/>
          </a:xfrm>
          <a:prstGeom prst="roundRect">
            <a:avLst>
              <a:gd name="adj" fmla="val 507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749808" y="4334256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964" y="4439412"/>
            <a:ext cx="192024" cy="192024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243584" y="44256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GANHA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786384" y="4882896"/>
            <a:ext cx="2441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dia a dia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aos analistas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prazo das entregas</a:t>
            </a:r>
            <a:endParaRPr lang="en-US" sz="1150" dirty="0"/>
          </a:p>
        </p:txBody>
      </p:sp>
      <p:sp>
        <p:nvSpPr>
          <p:cNvPr id="50" name="Shape 40"/>
          <p:cNvSpPr/>
          <p:nvPr/>
        </p:nvSpPr>
        <p:spPr>
          <a:xfrm>
            <a:off x="3758184" y="4078224"/>
            <a:ext cx="3063240" cy="1801368"/>
          </a:xfrm>
          <a:prstGeom prst="roundRect">
            <a:avLst>
              <a:gd name="adj" fmla="val 507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4032504" y="4334256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7660" y="4439412"/>
            <a:ext cx="192024" cy="192024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4526280" y="44256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PLANEJAMENTO ASSUME</a:t>
            </a:r>
            <a:endParaRPr lang="en-US" sz="1000" dirty="0"/>
          </a:p>
        </p:txBody>
      </p:sp>
      <p:sp>
        <p:nvSpPr>
          <p:cNvPr id="54" name="Text 43"/>
          <p:cNvSpPr txBox="1"/>
          <p:nvPr/>
        </p:nvSpPr>
        <p:spPr>
          <a:xfrm>
            <a:off x="4069080" y="4882896"/>
            <a:ext cx="2441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de ponta a ponta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Tratativa num só ponto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validada para os KPIs</a:t>
            </a:r>
            <a:endParaRPr lang="en-US" sz="1150" dirty="0"/>
          </a:p>
        </p:txBody>
      </p:sp>
      <p:sp>
        <p:nvSpPr>
          <p:cNvPr id="55" name="Shape 44"/>
          <p:cNvSpPr/>
          <p:nvPr/>
        </p:nvSpPr>
        <p:spPr>
          <a:xfrm>
            <a:off x="7040880" y="4078224"/>
            <a:ext cx="4672584" cy="1801368"/>
          </a:xfrm>
          <a:prstGeom prst="roundRect">
            <a:avLst>
              <a:gd name="adj" fmla="val 5076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7315200" y="4334256"/>
            <a:ext cx="402336" cy="402336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0356" y="4439412"/>
            <a:ext cx="192024" cy="192024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7808976" y="4425696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CONSULTIVA  ·  VISÃO MICRO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7351776" y="4960620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60" name="Text 48"/>
          <p:cNvSpPr txBox="1"/>
          <p:nvPr/>
        </p:nvSpPr>
        <p:spPr>
          <a:xfrm>
            <a:off x="7571232" y="4882896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 — </a:t>
            </a:r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processo trava</a:t>
            </a:r>
            <a:endParaRPr lang="en-US" sz="1050" dirty="0"/>
          </a:p>
        </p:txBody>
      </p:sp>
      <p:sp>
        <p:nvSpPr>
          <p:cNvPr id="61" name="Shape 49"/>
          <p:cNvSpPr/>
          <p:nvPr/>
        </p:nvSpPr>
        <p:spPr>
          <a:xfrm>
            <a:off x="7351776" y="5207508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62" name="Text 50"/>
          <p:cNvSpPr txBox="1"/>
          <p:nvPr/>
        </p:nvSpPr>
        <p:spPr>
          <a:xfrm>
            <a:off x="7571232" y="5129784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— </a:t>
            </a:r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rápidos no fluxo</a:t>
            </a:r>
            <a:endParaRPr lang="en-US" sz="1050" dirty="0"/>
          </a:p>
        </p:txBody>
      </p:sp>
      <p:sp>
        <p:nvSpPr>
          <p:cNvPr id="63" name="Shape 51"/>
          <p:cNvSpPr/>
          <p:nvPr/>
        </p:nvSpPr>
        <p:spPr>
          <a:xfrm>
            <a:off x="7351776" y="5454396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64" name="Text 52"/>
          <p:cNvSpPr txBox="1"/>
          <p:nvPr/>
        </p:nvSpPr>
        <p:spPr>
          <a:xfrm>
            <a:off x="7571232" y="537667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Aproveitamento — </a:t>
            </a:r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funciona e deve replicar</a:t>
            </a:r>
            <a:endParaRPr lang="en-US" sz="1050" dirty="0"/>
          </a:p>
        </p:txBody>
      </p:sp>
      <p:sp>
        <p:nvSpPr>
          <p:cNvPr id="65" name="Shape 53"/>
          <p:cNvSpPr/>
          <p:nvPr/>
        </p:nvSpPr>
        <p:spPr>
          <a:xfrm>
            <a:off x="7351776" y="5701284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66" name="Text 54"/>
          <p:cNvSpPr txBox="1"/>
          <p:nvPr/>
        </p:nvSpPr>
        <p:spPr>
          <a:xfrm>
            <a:off x="7571232" y="5623560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Direcionamento — </a:t>
            </a:r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sustentada em dado</a:t>
            </a:r>
            <a:endParaRPr lang="en-US" sz="1050" dirty="0"/>
          </a:p>
        </p:txBody>
      </p:sp>
      <p:sp>
        <p:nvSpPr>
          <p:cNvPr id="67" name="Text 55"/>
          <p:cNvSpPr txBox="1"/>
          <p:nvPr/>
        </p:nvSpPr>
        <p:spPr>
          <a:xfrm>
            <a:off x="475488" y="6016752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pPr indent="0" marL="0">
              <a:buNone/>
            </a:pPr>
            <a:r>
              <a:rPr lang="en-US" sz="10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demandas      </a:t>
            </a:r>
            <a:pPr indent="0" marL="0">
              <a:buNone/>
            </a:pPr>
            <a:r>
              <a:rPr lang="en-US" sz="18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indent="0" marL="0">
              <a:buNone/>
            </a:pPr>
            <a:r>
              <a:rPr lang="en-US" sz="10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sob tratativa direta      </a:t>
            </a:r>
            <a:pPr indent="0" marL="0">
              <a:buNone/>
            </a:pPr>
            <a:r>
              <a:rPr lang="en-US" sz="18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02/09</a:t>
            </a:r>
            <a:pPr indent="0" marL="0">
              <a:buNone/>
            </a:pPr>
            <a:r>
              <a:rPr lang="en-US" sz="10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alinhamento presencial</a:t>
            </a:r>
            <a:endParaRPr lang="en-US" sz="1800" dirty="0"/>
          </a:p>
        </p:txBody>
      </p:sp>
      <p:sp>
        <p:nvSpPr>
          <p:cNvPr id="68" name="Text 56"/>
          <p:cNvSpPr txBox="1"/>
          <p:nvPr/>
        </p:nvSpPr>
        <p:spPr>
          <a:xfrm>
            <a:off x="7543800" y="6016752"/>
            <a:ext cx="4169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executa. Planejamento é dono do dado — e do direcionamento.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assume o dado ponta a ponta</dc:title>
  <dc:subject>PptxGenJS Presentation</dc:subject>
  <dc:creator>Planejamento</dc:creator>
  <cp:lastModifiedBy>Planejamento</cp:lastModifiedBy>
  <cp:revision>1</cp:revision>
  <dcterms:created xsi:type="dcterms:W3CDTF">2026-09-01T21:50:44Z</dcterms:created>
  <dcterms:modified xsi:type="dcterms:W3CDTF">2026-09-01T21:50:44Z</dcterms:modified>
</cp:coreProperties>
</file>