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Demandas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A13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E4B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Tratativa do Planejamento</c:v>
                </c:pt>
                <c:pt idx="1">
                  <c:v>Automáticos — CRM 1P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hoje a operação divide atenção entre executar e tratar dados. A partir de agora o Planejamento assume o dado de ponta a ponta e a operação fica dedicada ao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acréscimo de tarefa para o Planejamento: é troca de dono. A operação devolve o tempo de tratativa para o acompanhamento dos analistas.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coração da mudança: cinco etapas, um responsável. O ML recebe a base já validada.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operação não perde visibilidade: ela recebe a demanda tratada e devolve o retorno. O que sai da mesa dela é o trabalho de tratamento de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valor que a mudança gera além da organização: o dado passa a virar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escopo já está inventariado no painel de demandas: 13 no total, 4 exigem tratativa manual e são o foco imediato.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 alinhamento de 02/09 destrava a absorção; a partir daí a rotina roda e o ciclo de insights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188720"/>
            <a:ext cx="3749040" cy="3749040"/>
          </a:xfrm>
          <a:prstGeom prst="ellipse">
            <a:avLst/>
          </a:prstGeom>
          <a:solidFill>
            <a:srgbClr val="12203A">
              <a:alpha val="0"/>
            </a:srgbClr>
          </a:solidFill>
          <a:ln w="15875">
            <a:solidFill>
              <a:srgbClr val="2E4B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645920"/>
            <a:ext cx="2834640" cy="2834640"/>
          </a:xfrm>
          <a:prstGeom prst="ellipse">
            <a:avLst/>
          </a:prstGeom>
          <a:solidFill>
            <a:srgbClr val="12203A">
              <a:alpha val="0"/>
            </a:srgbClr>
          </a:solidFill>
          <a:ln w="25400">
            <a:solidFill>
              <a:srgbClr val="E9A1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2103120"/>
            <a:ext cx="1920240" cy="1920240"/>
          </a:xfrm>
          <a:prstGeom prst="ellipse">
            <a:avLst/>
          </a:prstGeom>
          <a:solidFill>
            <a:srgbClr val="12203A">
              <a:alpha val="0"/>
            </a:srgbClr>
          </a:solidFill>
          <a:ln w="15875">
            <a:solidFill>
              <a:srgbClr val="2E4B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04120" y="2697480"/>
            <a:ext cx="731520" cy="731520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MODELO DE ATUAÇÃO  ·  PLANEJAMENTO &amp; OPERAÇÃO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3258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assume o ciclo</a:t>
            </a:r>
            <a:endParaRPr lang="en-US" sz="3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dados ponta a ponta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52928"/>
            <a:ext cx="7635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volta o foco para o dia a dia — analistas e execução. O Planejamento centraliza a recepção, a tratativa, a distribuição, a consolidação e a validação dos arquivos, entrega a base para os KPIs e devolve leitura analítica ao processo.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074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1023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MAPEADAS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44074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51023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SOB TRATATIVA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44074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02/09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693408" y="51023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PRESENCIAL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Rubens Hipólito  ·  Planejamento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mudar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689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estava dividida entre executar e tratar dados. Separamos os papéis.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1808" cy="3383280"/>
          </a:xfrm>
          <a:prstGeom prst="roundRect">
            <a:avLst>
              <a:gd name="adj" fmla="val 2162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258568"/>
            <a:ext cx="457200" cy="457200"/>
          </a:xfrm>
          <a:prstGeom prst="ellipse">
            <a:avLst/>
          </a:prstGeom>
          <a:solidFill>
            <a:srgbClr val="C4D1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0976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235000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ATUAL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2971800"/>
            <a:ext cx="4498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acumula recepção, tratativa e consolidação dos arquivos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do gestor dividida entre o dado e o time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preenchimento dependente de quem executa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macro: o número bruto, com pouca análise por trás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0216" y="1874520"/>
            <a:ext cx="5321808" cy="3383280"/>
          </a:xfrm>
          <a:prstGeom prst="roundRect">
            <a:avLst>
              <a:gd name="adj" fmla="val 2162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52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84264" y="2258568"/>
            <a:ext cx="457200" cy="457200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84264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60336" y="235000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MODELO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2971800"/>
            <a:ext cx="4498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assume o fluxo de dados de ponta a ponta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100% no dia a dia: analistas, atividades e qualidade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Tratativa padronizada e centralizada em um único ponto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micro: onde trava, por que trava e o que fazer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532120"/>
            <a:ext cx="11055096" cy="804672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5532120"/>
            <a:ext cx="10323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tarefa a mais para o Planejamento.  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troca de dono: o tempo que a operação gastava tratando arquivo volta para o acompanhamento dos analistas.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PASSA A FUNCIONAR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ponta a ponta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689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dono do dado, do recebimento do arquivo até o indicador.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050085" cy="2880360"/>
          </a:xfrm>
          <a:prstGeom prst="roundRect">
            <a:avLst>
              <a:gd name="adj" fmla="val 401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2257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71800"/>
            <a:ext cx="15928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37560"/>
            <a:ext cx="157459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recebe os arquivos e as bases de origem — planilhas e CRM.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98725" y="31546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18181" y="2011680"/>
            <a:ext cx="2050085" cy="2880360"/>
          </a:xfrm>
          <a:prstGeom prst="roundRect">
            <a:avLst>
              <a:gd name="adj" fmla="val 401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55925" y="232257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55925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55925" y="2971800"/>
            <a:ext cx="15928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TRATATIVA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55925" y="3337560"/>
            <a:ext cx="157459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as regras: duplicados por SKU, escopo por país, colunas obrigatórias.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49978" y="31546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69434" y="2011680"/>
            <a:ext cx="2050085" cy="2880360"/>
          </a:xfrm>
          <a:prstGeom prst="roundRect">
            <a:avLst>
              <a:gd name="adj" fmla="val 401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7178" y="232257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07178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07178" y="2971800"/>
            <a:ext cx="15928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307178" y="3337560"/>
            <a:ext cx="157459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à operação apenas o que exige ação, já no formato certo.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01230" y="31546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20686" y="2011680"/>
            <a:ext cx="2050085" cy="2880360"/>
          </a:xfrm>
          <a:prstGeom prst="roundRect">
            <a:avLst>
              <a:gd name="adj" fmla="val 401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8430" y="232257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58430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58430" y="2971800"/>
            <a:ext cx="15928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58430" y="3337560"/>
            <a:ext cx="157459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o retorno, valida a consistência e fecha a base oficial.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352483" y="31546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1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71939" y="2011680"/>
            <a:ext cx="2050085" cy="2880360"/>
          </a:xfrm>
          <a:prstGeom prst="roundRect">
            <a:avLst>
              <a:gd name="adj" fmla="val 4014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09683" y="2322576"/>
            <a:ext cx="512064" cy="51206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09683" y="23225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09683" y="2971800"/>
            <a:ext cx="15928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809683" y="3337560"/>
            <a:ext cx="157459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 os arquivos para o ML construir os indicadores.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349240"/>
            <a:ext cx="11055096" cy="804672"/>
          </a:xfrm>
          <a:prstGeom prst="roundRect">
            <a:avLst>
              <a:gd name="adj" fmla="val 6818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2688" y="5349240"/>
            <a:ext cx="10323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 no mesmo dono.  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recebe a demanda pronta para executar e devolve o retorno; o Planejamento responde pela qualidade do dado que vira KPI.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faz o quê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689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clara entre tratar o dado e executar a operação.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21808" cy="3474720"/>
          </a:xfrm>
          <a:prstGeom prst="roundRect">
            <a:avLst>
              <a:gd name="adj" fmla="val 2105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52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286000"/>
            <a:ext cx="566928" cy="5669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8408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82496" y="233172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682496" y="259689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Rubens Hipólito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172968"/>
            <a:ext cx="4443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Recepção dos arquivos e bases de origem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Tratativa e padronização das informações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demandas para a operação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e validação do retorno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da base oficial para os KPIs (ML)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analítica, insights e recomendações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0216" y="1874520"/>
            <a:ext cx="5321808" cy="3474720"/>
          </a:xfrm>
          <a:prstGeom prst="roundRect">
            <a:avLst>
              <a:gd name="adj" fmla="val 2105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11696" y="2286000"/>
            <a:ext cx="566928" cy="56692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11696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415784" y="233172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15784" y="259689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de execução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739128" y="3172968"/>
            <a:ext cx="4443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das ações no dia a dia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Atenção, acompanhamento e desenvolvimento dos analistas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prazo das atividades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estruturado ao Planejamento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5650992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5650992"/>
            <a:ext cx="10323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não perde visibilidade.  </a:t>
            </a:r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recebe a demanda já tratada, executa e devolve o retorno estruturado — o que sai da mesa dela é o trabalho de tratar arquivo.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número bruto a direcionamento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689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em toda a cadeia é o que permite ler o processo, e não apenas o resultado.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4160520" cy="3968496"/>
          </a:xfrm>
          <a:prstGeom prst="roundRect">
            <a:avLst>
              <a:gd name="adj" fmla="val 1843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  <a:effectLst>
            <a:outerShdw sx="100000" sy="100000" kx="0" ky="0" algn="bl" rotWithShape="0" blurRad="127000" dist="25400" dir="5400000">
              <a:srgbClr val="0B1526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78408" y="22860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MICRO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88336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passar por todas as etapas, o Planejamento enxerga o caminho do dado — não só o número final.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deixa de ser macro e passa a ser micro: onde o processo trava, por que trava e qual ação muda o resultado.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495604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Planejamento consultivo, direcionado por dado.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93208" y="1920240"/>
            <a:ext cx="3118104" cy="1938528"/>
          </a:xfrm>
          <a:prstGeom prst="roundRect">
            <a:avLst>
              <a:gd name="adj" fmla="val 377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22392" y="2231136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22392" y="2761488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22392" y="3072384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fluxo trava, com que frequência e a que custo.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920240"/>
            <a:ext cx="3118104" cy="1938528"/>
          </a:xfrm>
          <a:prstGeom prst="roundRect">
            <a:avLst>
              <a:gd name="adj" fmla="val 377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33104" y="2231136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33104" y="2761488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33104" y="3072384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rápidos: automação, corte de retrabalho, revisão de regra.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93208" y="4041648"/>
            <a:ext cx="3118104" cy="1938528"/>
          </a:xfrm>
          <a:prstGeom prst="roundRect">
            <a:avLst>
              <a:gd name="adj" fmla="val 377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22392" y="4352544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22392" y="4882896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APROVEITAMENTO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22392" y="5193792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funciona bem e deve ser replicado nos demais processos.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041648"/>
            <a:ext cx="3118104" cy="1938528"/>
          </a:xfrm>
          <a:prstGeom prst="roundRect">
            <a:avLst>
              <a:gd name="adj" fmla="val 3774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33104" y="4352544"/>
            <a:ext cx="384048" cy="384048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33104" y="4882896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30" kern="0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833104" y="5193792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para a operação sustentada em dado, não em percepção.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está mapeado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0689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demandas acompanhadas no painel — 4 com tratativa direta do Planejamento.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6492240" cy="841248"/>
          </a:xfrm>
          <a:prstGeom prst="roundRect">
            <a:avLst>
              <a:gd name="adj" fmla="val 6522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76856"/>
            <a:ext cx="219456" cy="21945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25296" y="209397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 ·  Automático   —   Resolução de conflitos e duplicados por SKU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35224"/>
            <a:ext cx="6492240" cy="841248"/>
          </a:xfrm>
          <a:prstGeom prst="roundRect">
            <a:avLst>
              <a:gd name="adj" fmla="val 6522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246120"/>
            <a:ext cx="219456" cy="21945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25296" y="3063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— Action-line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3364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 ·  Scarlet   —   Acompanhamento diário da aba Action-line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904488"/>
            <a:ext cx="6492240" cy="841248"/>
          </a:xfrm>
          <a:prstGeom prst="roundRect">
            <a:avLst>
              <a:gd name="adj" fmla="val 6522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215384"/>
            <a:ext cx="219456" cy="21945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25296" y="40325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Health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334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  ·  Segunda   —   Transferência de casos para a planilha destino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873752"/>
            <a:ext cx="6492240" cy="841248"/>
          </a:xfrm>
          <a:prstGeom prst="roundRect">
            <a:avLst>
              <a:gd name="adj" fmla="val 6522"/>
            </a:avLst>
          </a:prstGeom>
          <a:solidFill>
            <a:srgbClr val="F1F4F9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5184648"/>
            <a:ext cx="219456" cy="219456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25296" y="5001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 — Identificação e Rezagos MLB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225296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 ·  Manual   —   Extração da origem e preenchimento da base oficial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70648" y="1965960"/>
            <a:ext cx="4151376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221284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4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DAS 13 DEMANDAS</a:t>
            </a:r>
            <a:endParaRPr lang="en-US" sz="11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699248" y="2542032"/>
          <a:ext cx="3694176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8906256" y="3250692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7836408" y="4901184"/>
            <a:ext cx="146304" cy="146304"/>
          </a:xfrm>
          <a:prstGeom prst="ellipse">
            <a:avLst/>
          </a:prstGeom>
          <a:solidFill>
            <a:srgbClr val="E9A13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092440" y="482803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Tratativa do Planejamento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836408" y="5266944"/>
            <a:ext cx="146304" cy="146304"/>
          </a:xfrm>
          <a:prstGeom prst="ellipse">
            <a:avLst/>
          </a:prstGeom>
          <a:solidFill>
            <a:srgbClr val="2E4B7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092440" y="519379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Automáticos — CRM 1P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58978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9 processos 1P chegam automaticamente pelo CRM; a tratativa manual se concentra nos 4 processos acima.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77824"/>
            <a:ext cx="11055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571750" cy="2697480"/>
          </a:xfrm>
          <a:prstGeom prst="roundRect">
            <a:avLst>
              <a:gd name="adj" fmla="val 3200"/>
            </a:avLst>
          </a:prstGeom>
          <a:solidFill>
            <a:srgbClr val="1B2E4D"/>
          </a:solidFill>
          <a:ln w="12700">
            <a:solidFill>
              <a:srgbClr val="2E4B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295144"/>
            <a:ext cx="19499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02/09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679192"/>
            <a:ext cx="19499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Alinhamento presencial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410712"/>
            <a:ext cx="1949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Absorver com o Deyvid o processo de preenchimento das quatro bases.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4710" y="1965960"/>
            <a:ext cx="2571750" cy="2697480"/>
          </a:xfrm>
          <a:prstGeom prst="roundRect">
            <a:avLst>
              <a:gd name="adj" fmla="val 3200"/>
            </a:avLst>
          </a:prstGeom>
          <a:solidFill>
            <a:srgbClr val="1B2E4D"/>
          </a:solidFill>
          <a:ln w="12700">
            <a:solidFill>
              <a:srgbClr val="2E4B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5606" y="2295144"/>
            <a:ext cx="19499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05606" y="2679192"/>
            <a:ext cx="19499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Fechar o mapeamento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3705606" y="3410712"/>
            <a:ext cx="1949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 sheet oficial, o critério de duplicados e o escopo por país.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965960"/>
            <a:ext cx="2571750" cy="2697480"/>
          </a:xfrm>
          <a:prstGeom prst="roundRect">
            <a:avLst>
              <a:gd name="adj" fmla="val 3200"/>
            </a:avLst>
          </a:prstGeom>
          <a:solidFill>
            <a:srgbClr val="1B2E4D"/>
          </a:solidFill>
          <a:ln w="12700">
            <a:solidFill>
              <a:srgbClr val="2E4B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3388" y="2295144"/>
            <a:ext cx="19499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33388" y="2679192"/>
            <a:ext cx="19499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Padronizar a entrega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533388" y="3410712"/>
            <a:ext cx="1949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diário e semanal de tratativa, consolidação e envio ao ML.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0274" y="1965960"/>
            <a:ext cx="2571750" cy="2697480"/>
          </a:xfrm>
          <a:prstGeom prst="roundRect">
            <a:avLst>
              <a:gd name="adj" fmla="val 3200"/>
            </a:avLst>
          </a:prstGeom>
          <a:solidFill>
            <a:srgbClr val="1B2E4D"/>
          </a:solidFill>
          <a:ln w="12700">
            <a:solidFill>
              <a:srgbClr val="2E4B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61170" y="2295144"/>
            <a:ext cx="19499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361170" y="2679192"/>
            <a:ext cx="19499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insights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361170" y="3410712"/>
            <a:ext cx="19499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D6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micro do processo e recomendações periódicas para a operação.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029200"/>
            <a:ext cx="11055096" cy="914400"/>
          </a:xfrm>
          <a:prstGeom prst="roundRect">
            <a:avLst>
              <a:gd name="adj" fmla="val 7000"/>
            </a:avLst>
          </a:prstGeom>
          <a:solidFill>
            <a:srgbClr val="E9A1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8408" y="5029200"/>
            <a:ext cx="10232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focada na execução. Planejamento, dono do dado e do direcionamento.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assume o ciclo de dados ponta a ponta</dc:title>
  <dc:subject>PptxGenJS Presentation</dc:subject>
  <dc:creator>Planejamento</dc:creator>
  <cp:lastModifiedBy>Planejamento</cp:lastModifiedBy>
  <cp:revision>1</cp:revision>
  <dcterms:created xsi:type="dcterms:W3CDTF">2026-09-01T21:39:51Z</dcterms:created>
  <dcterms:modified xsi:type="dcterms:W3CDTF">2026-09-01T21:39:51Z</dcterms:modified>
</cp:coreProperties>
</file>